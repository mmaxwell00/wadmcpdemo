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(30s)
Say: Here is how most orgs onboard an MCP server today: a README, a config block, a token. No review, no version pinning, no provenance check. We normalized curl | bash for AI tools and called it developer experience.
THE THESIS
One control point in front of every MCP interaction: a gateway where every registration and every call is authenticated, authorized, and logged. Default-deny on anything not vetted.
HONESTY BEAT (say it out loud)
This governs by identity and registration, not by reading tool descriptions for bad intent. No AI-detects-the-poison magic. The unvetted server is stopped because it was never let in.
FORMAT NOTE
This edition uses screenshots captured from a real run (sbx v0.42.1, 2026-09-14) instead of typing live. Every command on these slides is the exact command that produced the output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THIS SHOWS
Two Node/TypeScript MCP servers over streamable HTTP, both exposing a tool named npm_download. poisoned-demo (:7801) carries a tool-poisoning payload in its description. approved-downloader (:7802) runs npm pack via execFile, no shell.
HOW IT WORKS
Servers are registered with sbx mcp add --url, so Cedar can pin a real identityURL. The org MCP policy is default-deny: permit register + invokeTool for approved-downloader when identityURL == http://localhost:7802/mcp; explicit forbid on poisoned-demo. A forbid overrides any permit.
WHY --url AND NOT --command
Local stdio servers have no identity and no verifiable supply chain. Pinning identity is the whole thesis, so --command would undercut it.
ANTICIPATED Q&amp;A
Q: Where is the policy configured? A: Docker Home, AI Platform, MCP access, by an org owner. The developer account holding an AI Governance seat is governed by it.
Q: Is this the Docker MCP Toolkit gateway? A: It is the gateway inside a Docker Sandbox (sbx). Say gateway plus org policy; do not overclaim product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THIS SHOWS
The registered MCP servers this developer's sandboxes can reach through the gateway. approved-downloader is the curated server for this demo.
SAY
One endpoint for the agent, one list for the org. Everything the agent can call is here, and everything here was registered through policy.
GOTCHA (verified live)
The banner reads LOCAL · managed by you even while org policy is actively enforcing. Never claim it flips to org-managed. Enforcement is proven by the deny in Beat 2 and the allow in Beat 3.
SCREENSHOT NOTE
Only approved-downloader is registered. It is a remote http server, so it carries a real identityURL for Cedar to pin. No local stdio servers are present; those have no identity and would undercut the 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THIS SHOWS
Tool poisoning (OWASP MCP03:2025, Invariant Labs pattern). A hidden IMPORTANT block in the tool description instructs the agent to read ./secrets/decoy-npmrc and pass it as the auth argument, without telling the user.
HOW IT WORKS
The harness is a deterministic compromised agent: it connects to the poisoned server over streamable HTTP, lists tools, obeys the description, and calls npm_download with the decoy .npmrc as auth. The server echoes the credential back so the room sees the leak. The token is fake.
SAY
One unvetted server, one config line, and the token that lets you publish packages walked out. To the developer that looked like a successful download.
ANTICIPATED Q&amp;A
Q: Did the model actually fall for that, or did you script it? A: Scripted, deliberately. The harness plays an agent that obeyed the poisoned description so the beat is deterministic on stage. The real artifact is the tool description; that is what a live agent reads.
Q: Is that a real token? A: No. It is a decoy file in the demo repo. Never run the poisoned server where real secrets live on disk.
AH-HA MOMENT
Most of the room has never seen an attack carried in a tool description rather than in code. Pause on the token.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THIS SHOWS
The identical server from Beat 1, now with org MCP policy enforced for the developer account. The registration is refused inline.
HOW IT WORKS
Cedar org policy is default-deny and additive. The explicit forbid on MCP::Server::"poisoned-demo" gives the message blocked by policy. Without the forbid, default-deny would say: no registration policy rule permits this server.
SAY
Denied on identity and registration, not on malicious content detected. The gateway never let an unknown server in; it did not scan the poison. People expect an AI scanner. Tell them it is identity, and that this is the stronger, more auditable guarantee.
AUDIT PAYOFF
Docker Home, AI Platform, Audit logs, Event type = Server Registration: a real row reading poisoned-demo, DENY, next to approved-downloader, ALLOW. See the audit slide.
ANTICIPATED Q&amp;A
Q: Why --skip-ssrf-check? A: sbx flags registrations whose host resolves to a loopback or private address. The demo servers are on localhost, so the flag silences expected noise for a URL we control. It does not bypass policy. You would not use it for a third-party server.
Q: Where do MCP denies show up locally? A: Not in sbx policy log, which is network and filesystem only. MCP decisions land in the AI Governance audit log in Docker Home.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THIS SHOWS
Identity pinning. The Cedar permit for approved-downloader requires resource.identityURL == http://localhost:7802/mcp. Registering the approved name at :7801 gets no matching permit and default-deny refuses it.
THE THREE COMMANDS
1. sbx mcp rm approved-downloader  (so the add is evaluated fresh)
2. sbx mcp add approved-downloader --url http://localhost:7801/mcp --skip-ssrf-check  (DENIED)
3. sbx mcp add approved-downloader --url http://localhost:7802/mcp --skip-ssrf-check  (ALLOW, restores the demo)
SAY
You cannot squat the approved name and swap the endpoint underneath it. We pin the identity, not the label. That is the rug-pull class, closed.
DESIGN NOTE
Only the permit is pinned; the forbid on poisoned-demo is by name. An over-broad deny is safe; an over-broad permit is the risk.
CUT ORDER
If running long, drop this beat first. Keep it for a security room; they get the rug-pull implication instantly and it is the cheapest big win.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THIS SHOWS
The curated path works. An agent in a governed sandbox calls npm_download through the gateway and gets left-pad-1.3.0.tgz with shasum and sha512 integrity. In the same run its own attempt to register the poisoned server via mcp-add is denied.
HOW IT WORKS
run-sandbox-beat.sh launches (or reuses) the gov-demo sandbox on the sandbox-workspace folder, runs sbx mcp load approved-downloader --sandbox gov-demo, then sbx exec runs gateway-client.mjs inside. That client lists gateway tools, calls npm_download, then calls the gateway's mcp-add primordial with the poisoned URL. The gateway refuses: policy denied /mcp-add: implicit.
WHY A SANDBOX
There is no CLI way to invoke a registered tool outside a sandbox; the gateway only exists inside one. That also means the org Filesystem access policy must allow the workspace path (on this laptop it lives under ~/sandboxes, which the org already allows).
SAY
Same agent, same gateway. An unvetted npm-wrapping server was blocked at the door; the curated one pulls the package and every call is logged. One chokepoint: authenticated, authorized, logged.
THE LINE THAT TURNS A DEMO INTO A SECURITY STORY
Every one of those decisions exports to your SIEM.
ANTICIPATED Q&amp;A
Q: Why does the AGENT column show a dash? A: Built-in shell and claude agents show a dash; only a named cagent populates it. The row still carries principal, resource and decision.
Q: What about network egress? A: npm pack runs on the approved server, not in the sandbox, so sandbox network policy is not in play here. Keep the story on MCP policy.
Q: Does it survive bad Wi-Fi? A: npm pack uses --prefer-offline and the cache was warmed, so yes.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THIS SHOWS
Durable MCP audit logging is the AI Governance feature in Docker Home, not the local sbx policy log (which is network and filesystem only). Fields include timestamp, category, decision, username, org_id, action_type, deny_reason.
HOW TO CAPTURE THE SCREENSHOT
Sign in to Docker Home as the org owner. AI Platform, Audit logs. Filter Event type = Server Registration and screenshot; then Event type = Tool Invocation and screenshot. The rows in the table on this slide were produced by the 2026-09-14 run.
SAY
Read the row: resource poisoned-demo, decision DENY. There is no content field because nothing was scanned. Point at the matching approved-downloader ALLOW for contrast. Then: every one of these exports to your SIEM.
ANTICIPATED Q&amp;A
Q: Why is the AGENT column empty? A: Populated only for a named cagent; built-in shell and claude show a dash.
Q: Is this logged for everyone? A: Recorded for licensed users under an enforced organization policy. AI Governance is a separately licensed add-on.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Tool shadowing, rug pulls, over-broad token scopes: the same identity-pinned registration model covers all four. We demoed poisoning live; the mechanism is identical for the rest. Not AI-detects-the-poison magic. A curated, default-deny catalog with a full audit trail.
ANTICIPATED Q&amp;A
Q: Does the gateway read descriptions to detect malicious content? A: No. Identity and registration, not content inspection. That is the honest answer and the stronger claim.
Q: What do we need to run this? A: Docker Desktop, sbx, Docker AI Governance (separately licensed), an org owner to create policy, and developers holding AI Governance seats.
CITATIONS
OWASP MCP03:2025 Tool Poisoning (OWASP MCP Top 10, currently in beta; say so if pressed). Invariant Labs, MCP Security Notification: Tool Poisoning Attacks, April 2025. Docker docs: docs.docker.com/ai/sandboxes/governance.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Offer Q&amp;A. Rehearsed answers are in the notes of the Wrap slide and Beats 1 and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Users/mark.maxwelldocker.com/sandboxes/WADMCPDemo/slides/deck-src/assets/docker_logo.png">    </p:cNvPr>
          <p:cNvPicPr>
            <a:picLocks noChangeAspect="1"/>
          </p:cNvPicPr>
          <p:nvPr/>
        </p:nvPicPr>
        <p:blipFill>
          <a:blip r:embed="rId2"/>
          <a:stretch>
            <a:fillRect/>
          </a:stretch>
        </p:blipFill>
        <p:spPr>
          <a:xfrm>
            <a:off x="548640" y="502920"/>
            <a:ext cx="2103120" cy="476707"/>
          </a:xfrm>
          <a:prstGeom prst="rect">
            <a:avLst/>
          </a:prstGeom>
        </p:spPr>
      </p:pic>
      <p:sp>
        <p:nvSpPr>
          <p:cNvPr id="3" name="Text 0"/>
          <p:cNvSpPr/>
          <p:nvPr/>
        </p:nvSpPr>
        <p:spPr>
          <a:xfrm>
            <a:off x="566928" y="2148840"/>
            <a:ext cx="8229600" cy="256032"/>
          </a:xfrm>
          <a:prstGeom prst="rect">
            <a:avLst/>
          </a:prstGeom>
          <a:noFill/>
          <a:ln/>
        </p:spPr>
        <p:txBody>
          <a:bodyPr wrap="square" lIns="0" tIns="0" rIns="0" bIns="0" rtlCol="0" anchor="ctr"/>
          <a:lstStyle/>
          <a:p>
            <a:pPr indent="0" marL="0">
              <a:buNone/>
            </a:pPr>
            <a:r>
              <a:rPr lang="en-US" sz="1300" b="1" spc="150" kern="0" dirty="0">
                <a:solidFill>
                  <a:srgbClr val="5FC8FF"/>
                </a:solidFill>
                <a:latin typeface="Arial" pitchFamily="34" charset="0"/>
                <a:ea typeface="Arial" pitchFamily="34" charset="-122"/>
                <a:cs typeface="Arial" pitchFamily="34" charset="-120"/>
              </a:rPr>
              <a:t>DOCKER SANDBOXES · MCP GATEWAY · AI GOVERNANCE</a:t>
            </a:r>
            <a:endParaRPr lang="en-US" sz="1300" dirty="0"/>
          </a:p>
        </p:txBody>
      </p:sp>
      <p:sp>
        <p:nvSpPr>
          <p:cNvPr id="4" name="Shape 1"/>
          <p:cNvSpPr/>
          <p:nvPr/>
        </p:nvSpPr>
        <p:spPr>
          <a:xfrm>
            <a:off x="566928" y="2532888"/>
            <a:ext cx="1005840" cy="45720"/>
          </a:xfrm>
          <a:prstGeom prst="roundRect">
            <a:avLst>
              <a:gd name="adj" fmla="val 40000"/>
            </a:avLst>
          </a:prstGeom>
          <a:solidFill>
            <a:srgbClr val="5FC8FF"/>
          </a:solidFill>
          <a:ln w="12700">
            <a:solidFill>
              <a:srgbClr val="5FC8FF"/>
            </a:solidFill>
            <a:prstDash val="solid"/>
          </a:ln>
          <a:effectLst>
            <a:outerShdw sx="100000" sy="100000" kx="0" ky="0" algn="bl" rotWithShape="0" blurRad="127000" dist="50800" dir="16200000">
              <a:srgbClr val="4FC8FF">
                <a:alpha val="38000"/>
              </a:srgbClr>
            </a:outerShdw>
          </a:effectLst>
        </p:spPr>
      </p:sp>
      <p:sp>
        <p:nvSpPr>
          <p:cNvPr id="5" name="Text 2"/>
          <p:cNvSpPr/>
          <p:nvPr/>
        </p:nvSpPr>
        <p:spPr>
          <a:xfrm>
            <a:off x="548640" y="2743200"/>
            <a:ext cx="9144000" cy="64008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MCP governance, </a:t>
            </a:r>
            <a:pPr indent="0" marL="0">
              <a:buNone/>
            </a:pPr>
            <a:r>
              <a:rPr lang="en-US" sz="4400" b="1" dirty="0">
                <a:solidFill>
                  <a:srgbClr val="5FC8FF"/>
                </a:solidFill>
                <a:latin typeface="Arial" pitchFamily="34" charset="0"/>
                <a:ea typeface="Arial" pitchFamily="34" charset="-122"/>
                <a:cs typeface="Arial" pitchFamily="34" charset="-120"/>
              </a:rPr>
              <a:t>live</a:t>
            </a:r>
            <a:endParaRPr lang="en-US" sz="4400" dirty="0"/>
          </a:p>
        </p:txBody>
      </p:sp>
      <p:sp>
        <p:nvSpPr>
          <p:cNvPr id="6" name="Text 3"/>
          <p:cNvSpPr/>
          <p:nvPr/>
        </p:nvSpPr>
        <p:spPr>
          <a:xfrm>
            <a:off x="566928" y="3794760"/>
            <a:ext cx="8778240" cy="914400"/>
          </a:xfrm>
          <a:prstGeom prst="rect">
            <a:avLst/>
          </a:prstGeom>
          <a:noFill/>
          <a:ln/>
        </p:spPr>
        <p:txBody>
          <a:bodyPr wrap="square" lIns="0" tIns="0" rIns="0" bIns="0" rtlCol="0" anchor="t"/>
          <a:lstStyle/>
          <a:p>
            <a:pPr indent="0" marL="0">
              <a:buNone/>
            </a:pPr>
            <a:r>
              <a:rPr lang="en-US" sz="1700" dirty="0">
                <a:solidFill>
                  <a:srgbClr val="BFE6FF"/>
                </a:solidFill>
                <a:latin typeface="Arial" pitchFamily="34" charset="0"/>
                <a:ea typeface="Arial" pitchFamily="34" charset="-122"/>
                <a:cs typeface="Arial" pitchFamily="34" charset="-120"/>
              </a:rPr>
              <a:t>One task: download an npm package. Two servers offer to do it. The only thing that changes between beats is policy.</a:t>
            </a:r>
            <a:endParaRPr lang="en-US" sz="1700" dirty="0"/>
          </a:p>
        </p:txBody>
      </p:sp>
      <p:sp>
        <p:nvSpPr>
          <p:cNvPr id="7" name="Shape 4"/>
          <p:cNvSpPr/>
          <p:nvPr/>
        </p:nvSpPr>
        <p:spPr>
          <a:xfrm>
            <a:off x="566928" y="5120640"/>
            <a:ext cx="1411834" cy="365760"/>
          </a:xfrm>
          <a:prstGeom prst="roundRect">
            <a:avLst>
              <a:gd name="adj" fmla="val 50000"/>
            </a:avLst>
          </a:prstGeom>
          <a:solidFill>
            <a:srgbClr val="1A56AE">
              <a:alpha val="88000"/>
            </a:srgbClr>
          </a:solidFill>
          <a:ln w="12700">
            <a:solidFill>
              <a:srgbClr val="4FA8E8"/>
            </a:solidFill>
            <a:prstDash val="solid"/>
          </a:ln>
          <a:effectLst>
            <a:outerShdw sx="100000" sy="100000" kx="0" ky="0" algn="bl" rotWithShape="0" blurRad="127000" dist="50800" dir="16200000">
              <a:srgbClr val="4FC8FF">
                <a:alpha val="38000"/>
              </a:srgbClr>
            </a:outerShdw>
          </a:effectLst>
        </p:spPr>
      </p:sp>
      <p:sp>
        <p:nvSpPr>
          <p:cNvPr id="8" name="Text 5"/>
          <p:cNvSpPr/>
          <p:nvPr/>
        </p:nvSpPr>
        <p:spPr>
          <a:xfrm>
            <a:off x="566928" y="5120640"/>
            <a:ext cx="1411834" cy="365760"/>
          </a:xfrm>
          <a:prstGeom prst="rect">
            <a:avLst/>
          </a:prstGeom>
          <a:noFill/>
          <a:ln/>
        </p:spPr>
        <p:txBody>
          <a:bodyPr wrap="square" lIns="0" tIns="0" rIns="0" bIns="0" rtlCol="0" anchor="ctr"/>
          <a:lstStyle/>
          <a:p>
            <a:pPr algn="ctr" indent="0" marL="0">
              <a:buNone/>
            </a:pPr>
            <a:r>
              <a:rPr lang="en-US" sz="1100" dirty="0">
                <a:solidFill>
                  <a:srgbClr val="BFE6FF"/>
                </a:solidFill>
                <a:latin typeface="Arial" pitchFamily="34" charset="0"/>
                <a:ea typeface="Arial" pitchFamily="34" charset="-122"/>
                <a:cs typeface="Arial" pitchFamily="34" charset="-120"/>
              </a:rPr>
              <a:t>Tool poisoning</a:t>
            </a:r>
            <a:endParaRPr lang="en-US" sz="1100" dirty="0"/>
          </a:p>
        </p:txBody>
      </p:sp>
      <p:sp>
        <p:nvSpPr>
          <p:cNvPr id="9" name="Shape 6"/>
          <p:cNvSpPr/>
          <p:nvPr/>
        </p:nvSpPr>
        <p:spPr>
          <a:xfrm>
            <a:off x="2143354" y="5120640"/>
            <a:ext cx="2512771" cy="365760"/>
          </a:xfrm>
          <a:prstGeom prst="roundRect">
            <a:avLst>
              <a:gd name="adj" fmla="val 50000"/>
            </a:avLst>
          </a:prstGeom>
          <a:solidFill>
            <a:srgbClr val="1A56AE">
              <a:alpha val="88000"/>
            </a:srgbClr>
          </a:solidFill>
          <a:ln w="12700">
            <a:solidFill>
              <a:srgbClr val="4FA8E8"/>
            </a:solidFill>
            <a:prstDash val="solid"/>
          </a:ln>
          <a:effectLst>
            <a:outerShdw sx="100000" sy="100000" kx="0" ky="0" algn="bl" rotWithShape="0" blurRad="127000" dist="50800" dir="16200000">
              <a:srgbClr val="4FC8FF">
                <a:alpha val="38000"/>
              </a:srgbClr>
            </a:outerShdw>
          </a:effectLst>
        </p:spPr>
      </p:sp>
      <p:sp>
        <p:nvSpPr>
          <p:cNvPr id="10" name="Text 7"/>
          <p:cNvSpPr/>
          <p:nvPr/>
        </p:nvSpPr>
        <p:spPr>
          <a:xfrm>
            <a:off x="2143354" y="5120640"/>
            <a:ext cx="2512771" cy="365760"/>
          </a:xfrm>
          <a:prstGeom prst="rect">
            <a:avLst/>
          </a:prstGeom>
          <a:noFill/>
          <a:ln/>
        </p:spPr>
        <p:txBody>
          <a:bodyPr wrap="square" lIns="0" tIns="0" rIns="0" bIns="0" rtlCol="0" anchor="ctr"/>
          <a:lstStyle/>
          <a:p>
            <a:pPr algn="ctr" indent="0" marL="0">
              <a:buNone/>
            </a:pPr>
            <a:r>
              <a:rPr lang="en-US" sz="1100" dirty="0">
                <a:solidFill>
                  <a:srgbClr val="BFE6FF"/>
                </a:solidFill>
                <a:latin typeface="Arial" pitchFamily="34" charset="0"/>
                <a:ea typeface="Arial" pitchFamily="34" charset="-122"/>
                <a:cs typeface="Arial" pitchFamily="34" charset="-120"/>
              </a:rPr>
              <a:t>Identity-pinned Cedar policy</a:t>
            </a:r>
            <a:endParaRPr lang="en-US" sz="1100" dirty="0"/>
          </a:p>
        </p:txBody>
      </p:sp>
      <p:sp>
        <p:nvSpPr>
          <p:cNvPr id="11" name="Shape 8"/>
          <p:cNvSpPr/>
          <p:nvPr/>
        </p:nvSpPr>
        <p:spPr>
          <a:xfrm>
            <a:off x="4820717" y="5120640"/>
            <a:ext cx="1883664" cy="365760"/>
          </a:xfrm>
          <a:prstGeom prst="roundRect">
            <a:avLst>
              <a:gd name="adj" fmla="val 50000"/>
            </a:avLst>
          </a:prstGeom>
          <a:solidFill>
            <a:srgbClr val="1A56AE">
              <a:alpha val="88000"/>
            </a:srgbClr>
          </a:solidFill>
          <a:ln w="12700">
            <a:solidFill>
              <a:srgbClr val="4FA8E8"/>
            </a:solidFill>
            <a:prstDash val="solid"/>
          </a:ln>
          <a:effectLst>
            <a:outerShdw sx="100000" sy="100000" kx="0" ky="0" algn="bl" rotWithShape="0" blurRad="127000" dist="50800" dir="16200000">
              <a:srgbClr val="4FC8FF">
                <a:alpha val="38000"/>
              </a:srgbClr>
            </a:outerShdw>
          </a:effectLst>
        </p:spPr>
      </p:sp>
      <p:sp>
        <p:nvSpPr>
          <p:cNvPr id="12" name="Text 9"/>
          <p:cNvSpPr/>
          <p:nvPr/>
        </p:nvSpPr>
        <p:spPr>
          <a:xfrm>
            <a:off x="4820717" y="5120640"/>
            <a:ext cx="1883664" cy="365760"/>
          </a:xfrm>
          <a:prstGeom prst="rect">
            <a:avLst/>
          </a:prstGeom>
          <a:noFill/>
          <a:ln/>
        </p:spPr>
        <p:txBody>
          <a:bodyPr wrap="square" lIns="0" tIns="0" rIns="0" bIns="0" rtlCol="0" anchor="ctr"/>
          <a:lstStyle/>
          <a:p>
            <a:pPr algn="ctr" indent="0" marL="0">
              <a:buNone/>
            </a:pPr>
            <a:r>
              <a:rPr lang="en-US" sz="1100" dirty="0">
                <a:solidFill>
                  <a:srgbClr val="BFE6FF"/>
                </a:solidFill>
                <a:latin typeface="Arial" pitchFamily="34" charset="0"/>
                <a:ea typeface="Arial" pitchFamily="34" charset="-122"/>
                <a:cs typeface="Arial" pitchFamily="34" charset="-120"/>
              </a:rPr>
              <a:t>Default-deny gateway</a:t>
            </a:r>
            <a:endParaRPr lang="en-US" sz="1100" dirty="0"/>
          </a:p>
        </p:txBody>
      </p:sp>
      <p:sp>
        <p:nvSpPr>
          <p:cNvPr id="13" name="Shape 10"/>
          <p:cNvSpPr/>
          <p:nvPr/>
        </p:nvSpPr>
        <p:spPr>
          <a:xfrm>
            <a:off x="6868973" y="5120640"/>
            <a:ext cx="1805026" cy="365760"/>
          </a:xfrm>
          <a:prstGeom prst="roundRect">
            <a:avLst>
              <a:gd name="adj" fmla="val 50000"/>
            </a:avLst>
          </a:prstGeom>
          <a:solidFill>
            <a:srgbClr val="1A56AE">
              <a:alpha val="88000"/>
            </a:srgbClr>
          </a:solidFill>
          <a:ln w="12700">
            <a:solidFill>
              <a:srgbClr val="4FA8E8"/>
            </a:solidFill>
            <a:prstDash val="solid"/>
          </a:ln>
          <a:effectLst>
            <a:outerShdw sx="100000" sy="100000" kx="0" ky="0" algn="bl" rotWithShape="0" blurRad="127000" dist="50800" dir="16200000">
              <a:srgbClr val="4FC8FF">
                <a:alpha val="38000"/>
              </a:srgbClr>
            </a:outerShdw>
          </a:effectLst>
        </p:spPr>
      </p:sp>
      <p:sp>
        <p:nvSpPr>
          <p:cNvPr id="14" name="Text 11"/>
          <p:cNvSpPr/>
          <p:nvPr/>
        </p:nvSpPr>
        <p:spPr>
          <a:xfrm>
            <a:off x="6868973" y="5120640"/>
            <a:ext cx="1805026" cy="365760"/>
          </a:xfrm>
          <a:prstGeom prst="rect">
            <a:avLst/>
          </a:prstGeom>
          <a:noFill/>
          <a:ln/>
        </p:spPr>
        <p:txBody>
          <a:bodyPr wrap="square" lIns="0" tIns="0" rIns="0" bIns="0" rtlCol="0" anchor="ctr"/>
          <a:lstStyle/>
          <a:p>
            <a:pPr algn="ctr" indent="0" marL="0">
              <a:buNone/>
            </a:pPr>
            <a:r>
              <a:rPr lang="en-US" sz="1100" dirty="0">
                <a:solidFill>
                  <a:srgbClr val="BFE6FF"/>
                </a:solidFill>
                <a:latin typeface="Arial" pitchFamily="34" charset="0"/>
                <a:ea typeface="Arial" pitchFamily="34" charset="-122"/>
                <a:cs typeface="Arial" pitchFamily="34" charset="-120"/>
              </a:rPr>
              <a:t>Audit trail to SIEM</a:t>
            </a:r>
            <a:endParaRPr lang="en-US" sz="1100" dirty="0"/>
          </a:p>
        </p:txBody>
      </p:sp>
      <p:sp>
        <p:nvSpPr>
          <p:cNvPr id="15" name="Shape 12"/>
          <p:cNvSpPr/>
          <p:nvPr/>
        </p:nvSpPr>
        <p:spPr>
          <a:xfrm>
            <a:off x="9829800" y="2651760"/>
            <a:ext cx="1783080" cy="1783080"/>
          </a:xfrm>
          <a:prstGeom prst="roundRect">
            <a:avLst>
              <a:gd name="adj" fmla="val 7179"/>
            </a:avLst>
          </a:prstGeom>
          <a:solidFill>
            <a:srgbClr val="1A56AE">
              <a:alpha val="90000"/>
            </a:srgbClr>
          </a:solidFill>
          <a:ln w="19050">
            <a:solidFill>
              <a:srgbClr val="5FC8FF"/>
            </a:solidFill>
            <a:prstDash val="solid"/>
          </a:ln>
          <a:effectLst>
            <a:outerShdw sx="100000" sy="100000" kx="0" ky="0" algn="bl" rotWithShape="0" blurRad="203200" dist="50800" dir="16200000">
              <a:srgbClr val="4FC8FF">
                <a:alpha val="58000"/>
              </a:srgbClr>
            </a:outerShdw>
          </a:effectLst>
        </p:spPr>
      </p:sp>
      <p:pic>
        <p:nvPicPr>
          <p:cNvPr id="16" name="Image 1" descr="/Users/mark.maxwelldocker.com/sandboxes/WADMCPDemo/slides/deck-src/assets/ic_shield.png">    </p:cNvPr>
          <p:cNvPicPr>
            <a:picLocks noChangeAspect="1"/>
          </p:cNvPicPr>
          <p:nvPr/>
        </p:nvPicPr>
        <p:blipFill>
          <a:blip r:embed="rId3"/>
          <a:stretch>
            <a:fillRect/>
          </a:stretch>
        </p:blipFill>
        <p:spPr>
          <a:xfrm>
            <a:off x="10311232" y="3133192"/>
            <a:ext cx="820217" cy="82021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66928" y="384048"/>
            <a:ext cx="7315200" cy="256032"/>
          </a:xfrm>
          <a:prstGeom prst="rect">
            <a:avLst/>
          </a:prstGeom>
          <a:noFill/>
          <a:ln/>
        </p:spPr>
        <p:txBody>
          <a:bodyPr wrap="square" lIns="0" tIns="0" rIns="0" bIns="0" rtlCol="0" anchor="ctr"/>
          <a:lstStyle/>
          <a:p>
            <a:pPr indent="0" marL="0">
              <a:buNone/>
            </a:pPr>
            <a:r>
              <a:rPr lang="en-US" sz="1250" b="1" spc="150" kern="0" dirty="0">
                <a:solidFill>
                  <a:srgbClr val="5FC8FF"/>
                </a:solidFill>
                <a:latin typeface="Arial" pitchFamily="34" charset="0"/>
                <a:ea typeface="Arial" pitchFamily="34" charset="-122"/>
                <a:cs typeface="Arial" pitchFamily="34" charset="-120"/>
              </a:rPr>
              <a:t>THE SETUP</a:t>
            </a:r>
            <a:endParaRPr lang="en-US" sz="1250" dirty="0"/>
          </a:p>
        </p:txBody>
      </p:sp>
      <p:sp>
        <p:nvSpPr>
          <p:cNvPr id="3" name="Text 1"/>
          <p:cNvSpPr/>
          <p:nvPr/>
        </p:nvSpPr>
        <p:spPr>
          <a:xfrm>
            <a:off x="548640" y="621792"/>
            <a:ext cx="11064240" cy="640080"/>
          </a:xfrm>
          <a:prstGeom prst="rect">
            <a:avLst/>
          </a:prstGeom>
          <a:noFill/>
          <a:ln/>
        </p:spPr>
        <p:txBody>
          <a:bodyPr wrap="square" lIns="0" tIns="0" rIns="0" bIns="0" rtlCol="0" anchor="ctr"/>
          <a:lstStyle/>
          <a:p>
            <a:pPr indent="0" marL="0">
              <a:buNone/>
            </a:pPr>
            <a:r>
              <a:rPr lang="en-US" sz="2700" b="1" dirty="0">
                <a:solidFill>
                  <a:srgbClr val="FFFFFF"/>
                </a:solidFill>
                <a:latin typeface="Arial" pitchFamily="34" charset="0"/>
                <a:ea typeface="Arial" pitchFamily="34" charset="-122"/>
                <a:cs typeface="Arial" pitchFamily="34" charset="-120"/>
              </a:rPr>
              <a:t>Same tool name, two identities, </a:t>
            </a:r>
            <a:pPr indent="0" marL="0">
              <a:buNone/>
            </a:pPr>
            <a:r>
              <a:rPr lang="en-US" sz="2700" b="1" dirty="0">
                <a:solidFill>
                  <a:srgbClr val="5FC8FF"/>
                </a:solidFill>
                <a:latin typeface="Arial" pitchFamily="34" charset="0"/>
                <a:ea typeface="Arial" pitchFamily="34" charset="-122"/>
                <a:cs typeface="Arial" pitchFamily="34" charset="-120"/>
              </a:rPr>
              <a:t>one gateway</a:t>
            </a:r>
            <a:endParaRPr lang="en-US" sz="2700" dirty="0"/>
          </a:p>
        </p:txBody>
      </p:sp>
      <p:sp>
        <p:nvSpPr>
          <p:cNvPr id="4" name="Text 2"/>
          <p:cNvSpPr/>
          <p:nvPr/>
        </p:nvSpPr>
        <p:spPr>
          <a:xfrm>
            <a:off x="566928" y="1207008"/>
            <a:ext cx="11064240" cy="329184"/>
          </a:xfrm>
          <a:prstGeom prst="rect">
            <a:avLst/>
          </a:prstGeom>
          <a:noFill/>
          <a:ln/>
        </p:spPr>
        <p:txBody>
          <a:bodyPr wrap="square" lIns="0" tIns="0" rIns="0" bIns="0" rtlCol="0" anchor="t"/>
          <a:lstStyle/>
          <a:p>
            <a:pPr indent="0" marL="0">
              <a:buNone/>
            </a:pPr>
            <a:r>
              <a:rPr lang="en-US" sz="1350" i="1" dirty="0">
                <a:solidFill>
                  <a:srgbClr val="BFE6FF"/>
                </a:solidFill>
                <a:latin typeface="Arial" pitchFamily="34" charset="0"/>
                <a:ea typeface="Arial" pitchFamily="34" charset="-122"/>
                <a:cs typeface="Arial" pitchFamily="34" charset="-120"/>
              </a:rPr>
              <a:t>Both servers expose npm_download. Only their identity differs. That is the entire point.</a:t>
            </a:r>
            <a:endParaRPr lang="en-US" sz="1350" dirty="0"/>
          </a:p>
        </p:txBody>
      </p:sp>
      <p:sp>
        <p:nvSpPr>
          <p:cNvPr id="5" name="Shape 3"/>
          <p:cNvSpPr/>
          <p:nvPr/>
        </p:nvSpPr>
        <p:spPr>
          <a:xfrm>
            <a:off x="548640" y="2011680"/>
            <a:ext cx="2926080" cy="2743200"/>
          </a:xfrm>
          <a:prstGeom prst="roundRect">
            <a:avLst>
              <a:gd name="adj" fmla="val 3000"/>
            </a:avLst>
          </a:prstGeom>
          <a:solidFill>
            <a:srgbClr val="0E3A86">
              <a:alpha val="74000"/>
            </a:srgbClr>
          </a:solidFill>
          <a:ln w="12700">
            <a:solidFill>
              <a:srgbClr val="4FA8E8"/>
            </a:solidFill>
            <a:prstDash val="solid"/>
          </a:ln>
          <a:effectLst>
            <a:outerShdw sx="100000" sy="100000" kx="0" ky="0" algn="bl" rotWithShape="0" blurRad="127000" dist="50800" dir="16200000">
              <a:srgbClr val="4FC8FF">
                <a:alpha val="38000"/>
              </a:srgbClr>
            </a:outerShdw>
          </a:effectLst>
        </p:spPr>
      </p:sp>
      <p:sp>
        <p:nvSpPr>
          <p:cNvPr id="6" name="Shape 4"/>
          <p:cNvSpPr/>
          <p:nvPr/>
        </p:nvSpPr>
        <p:spPr>
          <a:xfrm>
            <a:off x="1691640" y="2286000"/>
            <a:ext cx="640080" cy="640080"/>
          </a:xfrm>
          <a:prstGeom prst="roundRect">
            <a:avLst>
              <a:gd name="adj" fmla="val 20000"/>
            </a:avLst>
          </a:prstGeom>
          <a:solidFill>
            <a:srgbClr val="1A56AE">
              <a:alpha val="90000"/>
            </a:srgbClr>
          </a:solidFill>
          <a:ln w="19050">
            <a:solidFill>
              <a:srgbClr val="5FC8FF"/>
            </a:solidFill>
            <a:prstDash val="solid"/>
          </a:ln>
          <a:effectLst>
            <a:outerShdw sx="100000" sy="100000" kx="0" ky="0" algn="bl" rotWithShape="0" blurRad="203200" dist="50800" dir="16200000">
              <a:srgbClr val="4FC8FF">
                <a:alpha val="58000"/>
              </a:srgbClr>
            </a:outerShdw>
          </a:effectLst>
        </p:spPr>
      </p:sp>
      <p:pic>
        <p:nvPicPr>
          <p:cNvPr id="7" name="Image 0" descr="/Users/mark.maxwelldocker.com/sandboxes/WADMCPDemo/slides/deck-src/assets/ic_robot.png">    </p:cNvPr>
          <p:cNvPicPr>
            <a:picLocks noChangeAspect="1"/>
          </p:cNvPicPr>
          <p:nvPr/>
        </p:nvPicPr>
        <p:blipFill>
          <a:blip r:embed="rId2"/>
          <a:stretch>
            <a:fillRect/>
          </a:stretch>
        </p:blipFill>
        <p:spPr>
          <a:xfrm>
            <a:off x="1864462" y="2458822"/>
            <a:ext cx="294437" cy="294437"/>
          </a:xfrm>
          <a:prstGeom prst="rect">
            <a:avLst/>
          </a:prstGeom>
        </p:spPr>
      </p:pic>
      <p:sp>
        <p:nvSpPr>
          <p:cNvPr id="8" name="Text 5"/>
          <p:cNvSpPr/>
          <p:nvPr/>
        </p:nvSpPr>
        <p:spPr>
          <a:xfrm>
            <a:off x="640080" y="3063240"/>
            <a:ext cx="2743200" cy="365760"/>
          </a:xfrm>
          <a:prstGeom prst="rect">
            <a:avLst/>
          </a:prstGeom>
          <a:noFill/>
          <a:ln/>
        </p:spPr>
        <p:txBody>
          <a:bodyPr wrap="square" lIns="0" tIns="0" rIns="0" bIns="0" rtlCol="0" anchor="t"/>
          <a:lstStyle/>
          <a:p>
            <a:pPr algn="ctr" indent="0" marL="0">
              <a:buNone/>
            </a:pPr>
            <a:r>
              <a:rPr lang="en-US" sz="1400" b="1" dirty="0">
                <a:solidFill>
                  <a:srgbClr val="FFFFFF"/>
                </a:solidFill>
                <a:latin typeface="Arial" pitchFamily="34" charset="0"/>
                <a:ea typeface="Arial" pitchFamily="34" charset="-122"/>
                <a:cs typeface="Arial" pitchFamily="34" charset="-120"/>
              </a:rPr>
              <a:t>Agent in a governed sandbox</a:t>
            </a:r>
            <a:endParaRPr lang="en-US" sz="1400" dirty="0"/>
          </a:p>
        </p:txBody>
      </p:sp>
      <p:sp>
        <p:nvSpPr>
          <p:cNvPr id="9" name="Text 6"/>
          <p:cNvSpPr/>
          <p:nvPr/>
        </p:nvSpPr>
        <p:spPr>
          <a:xfrm>
            <a:off x="640080" y="3474720"/>
            <a:ext cx="2743200" cy="640080"/>
          </a:xfrm>
          <a:prstGeom prst="rect">
            <a:avLst/>
          </a:prstGeom>
          <a:noFill/>
          <a:ln/>
        </p:spPr>
        <p:txBody>
          <a:bodyPr wrap="square" lIns="0" tIns="0" rIns="0" bIns="0" rtlCol="0" anchor="t"/>
          <a:lstStyle/>
          <a:p>
            <a:pPr algn="ctr" indent="0" marL="0">
              <a:buNone/>
            </a:pPr>
            <a:r>
              <a:rPr lang="en-US" sz="1150" dirty="0">
                <a:solidFill>
                  <a:srgbClr val="D6E6FB"/>
                </a:solidFill>
                <a:latin typeface="Arial" pitchFamily="34" charset="0"/>
                <a:ea typeface="Arial" pitchFamily="34" charset="-122"/>
                <a:cs typeface="Arial" pitchFamily="34" charset="-120"/>
              </a:rPr>
              <a:t>Sees one endpoint only:</a:t>
            </a:r>
            <a:endParaRPr lang="en-US" sz="1150" dirty="0"/>
          </a:p>
          <a:p>
            <a:pPr algn="ctr" indent="0" marL="0">
              <a:buNone/>
            </a:pPr>
            <a:r>
              <a:rPr lang="en-US" sz="1150" dirty="0">
                <a:solidFill>
                  <a:srgbClr val="D6E6FB"/>
                </a:solidFill>
                <a:latin typeface="Arial" pitchFamily="34" charset="0"/>
                <a:ea typeface="Arial" pitchFamily="34" charset="-122"/>
                <a:cs typeface="Arial" pitchFamily="34" charset="-120"/>
              </a:rPr>
              <a:t>mcp-gateway.docker.internal</a:t>
            </a:r>
            <a:endParaRPr lang="en-US" sz="1150" dirty="0"/>
          </a:p>
        </p:txBody>
      </p:sp>
      <p:sp>
        <p:nvSpPr>
          <p:cNvPr id="10" name="Text 7"/>
          <p:cNvSpPr/>
          <p:nvPr/>
        </p:nvSpPr>
        <p:spPr>
          <a:xfrm>
            <a:off x="640080" y="4206240"/>
            <a:ext cx="2743200" cy="320040"/>
          </a:xfrm>
          <a:prstGeom prst="rect">
            <a:avLst/>
          </a:prstGeom>
          <a:noFill/>
          <a:ln/>
        </p:spPr>
        <p:txBody>
          <a:bodyPr wrap="square" lIns="0" tIns="0" rIns="0" bIns="0" rtlCol="0" anchor="t"/>
          <a:lstStyle/>
          <a:p>
            <a:pPr algn="ctr" indent="0" marL="0">
              <a:buNone/>
            </a:pPr>
            <a:r>
              <a:rPr lang="en-US" sz="1100" i="1" dirty="0">
                <a:solidFill>
                  <a:srgbClr val="BFE6FF"/>
                </a:solidFill>
                <a:latin typeface="Arial" pitchFamily="34" charset="0"/>
                <a:ea typeface="Arial" pitchFamily="34" charset="-122"/>
                <a:cs typeface="Arial" pitchFamily="34" charset="-120"/>
              </a:rPr>
              <a:t>cannot self-serve tools</a:t>
            </a:r>
            <a:endParaRPr lang="en-US" sz="1100" dirty="0"/>
          </a:p>
        </p:txBody>
      </p:sp>
      <p:sp>
        <p:nvSpPr>
          <p:cNvPr id="11" name="Text 8"/>
          <p:cNvSpPr/>
          <p:nvPr/>
        </p:nvSpPr>
        <p:spPr>
          <a:xfrm>
            <a:off x="3502152" y="2011680"/>
            <a:ext cx="457200" cy="2743200"/>
          </a:xfrm>
          <a:prstGeom prst="rect">
            <a:avLst/>
          </a:prstGeom>
          <a:noFill/>
          <a:ln/>
          <a:effectLst>
            <a:outerShdw sx="100000" sy="100000" kx="0" ky="0" algn="bl" rotWithShape="0" blurRad="139700" dist="50800" dir="16200000">
              <a:srgbClr val="4FC8FF">
                <a:alpha val="70000"/>
              </a:srgbClr>
            </a:outerShdw>
          </a:effectLst>
        </p:spPr>
        <p:txBody>
          <a:bodyPr wrap="square" lIns="0" tIns="0" rIns="0" bIns="0" rtlCol="0" anchor="ctr"/>
          <a:lstStyle/>
          <a:p>
            <a:pPr algn="ctr" indent="0" marL="0">
              <a:buNone/>
            </a:pPr>
            <a:r>
              <a:rPr lang="en-US" sz="2400" b="1" dirty="0">
                <a:solidFill>
                  <a:srgbClr val="5FC8FF"/>
                </a:solidFill>
                <a:latin typeface="Arial" pitchFamily="34" charset="0"/>
                <a:ea typeface="Arial" pitchFamily="34" charset="-122"/>
                <a:cs typeface="Arial" pitchFamily="34" charset="-120"/>
              </a:rPr>
              <a:t>→</a:t>
            </a:r>
            <a:endParaRPr lang="en-US" sz="2400" dirty="0"/>
          </a:p>
        </p:txBody>
      </p:sp>
      <p:sp>
        <p:nvSpPr>
          <p:cNvPr id="12" name="Shape 9"/>
          <p:cNvSpPr/>
          <p:nvPr/>
        </p:nvSpPr>
        <p:spPr>
          <a:xfrm>
            <a:off x="4023360" y="2011680"/>
            <a:ext cx="3383280" cy="2743200"/>
          </a:xfrm>
          <a:prstGeom prst="roundRect">
            <a:avLst>
              <a:gd name="adj" fmla="val 3000"/>
            </a:avLst>
          </a:prstGeom>
          <a:solidFill>
            <a:srgbClr val="1E63C8">
              <a:alpha val="88000"/>
            </a:srgbClr>
          </a:solidFill>
          <a:ln w="12700">
            <a:solidFill>
              <a:srgbClr val="BFE6FF"/>
            </a:solidFill>
            <a:prstDash val="solid"/>
          </a:ln>
          <a:effectLst>
            <a:outerShdw sx="100000" sy="100000" kx="0" ky="0" algn="bl" rotWithShape="0" blurRad="203200" dist="50800" dir="16200000">
              <a:srgbClr val="4FC8FF">
                <a:alpha val="58000"/>
              </a:srgbClr>
            </a:outerShdw>
          </a:effectLst>
        </p:spPr>
      </p:sp>
      <p:sp>
        <p:nvSpPr>
          <p:cNvPr id="13" name="Shape 10"/>
          <p:cNvSpPr/>
          <p:nvPr/>
        </p:nvSpPr>
        <p:spPr>
          <a:xfrm>
            <a:off x="5394960" y="2286000"/>
            <a:ext cx="640080" cy="640080"/>
          </a:xfrm>
          <a:prstGeom prst="roundRect">
            <a:avLst>
              <a:gd name="adj" fmla="val 20000"/>
            </a:avLst>
          </a:prstGeom>
          <a:solidFill>
            <a:srgbClr val="1A56AE">
              <a:alpha val="90000"/>
            </a:srgbClr>
          </a:solidFill>
          <a:ln w="19050">
            <a:solidFill>
              <a:srgbClr val="5FC8FF"/>
            </a:solidFill>
            <a:prstDash val="solid"/>
          </a:ln>
          <a:effectLst>
            <a:outerShdw sx="100000" sy="100000" kx="0" ky="0" algn="bl" rotWithShape="0" blurRad="203200" dist="50800" dir="16200000">
              <a:srgbClr val="4FC8FF">
                <a:alpha val="58000"/>
              </a:srgbClr>
            </a:outerShdw>
          </a:effectLst>
        </p:spPr>
      </p:sp>
      <p:pic>
        <p:nvPicPr>
          <p:cNvPr id="14" name="Image 1" descr="/Users/mark.maxwelldocker.com/sandboxes/WADMCPDemo/slides/deck-src/assets/ic_policy.png">    </p:cNvPr>
          <p:cNvPicPr>
            <a:picLocks noChangeAspect="1"/>
          </p:cNvPicPr>
          <p:nvPr/>
        </p:nvPicPr>
        <p:blipFill>
          <a:blip r:embed="rId3"/>
          <a:stretch>
            <a:fillRect/>
          </a:stretch>
        </p:blipFill>
        <p:spPr>
          <a:xfrm>
            <a:off x="5567782" y="2458822"/>
            <a:ext cx="294437" cy="294437"/>
          </a:xfrm>
          <a:prstGeom prst="rect">
            <a:avLst/>
          </a:prstGeom>
        </p:spPr>
      </p:pic>
      <p:sp>
        <p:nvSpPr>
          <p:cNvPr id="15" name="Text 11"/>
          <p:cNvSpPr/>
          <p:nvPr/>
        </p:nvSpPr>
        <p:spPr>
          <a:xfrm>
            <a:off x="4114800" y="3063240"/>
            <a:ext cx="3200400" cy="365760"/>
          </a:xfrm>
          <a:prstGeom prst="rect">
            <a:avLst/>
          </a:prstGeom>
          <a:noFill/>
          <a:ln/>
        </p:spPr>
        <p:txBody>
          <a:bodyPr wrap="square" lIns="0" tIns="0" rIns="0" bIns="0" rtlCol="0" anchor="t"/>
          <a:lstStyle/>
          <a:p>
            <a:pPr algn="ctr" indent="0" marL="0">
              <a:buNone/>
            </a:pPr>
            <a:r>
              <a:rPr lang="en-US" sz="1400" b="1" dirty="0">
                <a:solidFill>
                  <a:srgbClr val="FFFFFF"/>
                </a:solidFill>
                <a:latin typeface="Arial" pitchFamily="34" charset="0"/>
                <a:ea typeface="Arial" pitchFamily="34" charset="-122"/>
                <a:cs typeface="Arial" pitchFamily="34" charset="-120"/>
              </a:rPr>
              <a:t>MCP Gateway + Cedar org policy</a:t>
            </a:r>
            <a:endParaRPr lang="en-US" sz="1400" dirty="0"/>
          </a:p>
        </p:txBody>
      </p:sp>
      <p:sp>
        <p:nvSpPr>
          <p:cNvPr id="16" name="Text 12"/>
          <p:cNvSpPr/>
          <p:nvPr/>
        </p:nvSpPr>
        <p:spPr>
          <a:xfrm>
            <a:off x="4434840" y="3520440"/>
            <a:ext cx="2834640" cy="1097280"/>
          </a:xfrm>
          <a:prstGeom prst="rect">
            <a:avLst/>
          </a:prstGeom>
          <a:noFill/>
          <a:ln/>
        </p:spPr>
        <p:txBody>
          <a:bodyPr wrap="square" lIns="0" tIns="0" rIns="0" bIns="0" rtlCol="0" anchor="t"/>
          <a:lstStyle/>
          <a:p>
            <a:pPr indent="0" marL="0">
              <a:buNone/>
            </a:pPr>
            <a:r>
              <a:rPr lang="en-US" sz="1150" b="1" dirty="0">
                <a:solidFill>
                  <a:srgbClr val="5FC8FF"/>
                </a:solidFill>
                <a:latin typeface="Arial" pitchFamily="34" charset="0"/>
                <a:ea typeface="Arial" pitchFamily="34" charset="-122"/>
                <a:cs typeface="Arial" pitchFamily="34" charset="-120"/>
              </a:rPr>
              <a:t>?  </a:t>
            </a:r>
            <a:pPr indent="0" marL="0">
              <a:spcAft>
                <a:spcPts val="300"/>
              </a:spcAft>
              <a:buNone/>
            </a:pPr>
            <a:r>
              <a:rPr lang="en-US" sz="1150" dirty="0">
                <a:solidFill>
                  <a:srgbClr val="D6E6FB"/>
                </a:solidFill>
                <a:latin typeface="Arial" pitchFamily="34" charset="0"/>
                <a:ea typeface="Arial" pitchFamily="34" charset="-122"/>
                <a:cs typeface="Arial" pitchFamily="34" charset="-120"/>
              </a:rPr>
              <a:t>register this server?</a:t>
            </a:r>
            <a:endParaRPr lang="en-US" sz="1150" dirty="0"/>
          </a:p>
          <a:p>
            <a:pPr indent="0" marL="0">
              <a:buNone/>
            </a:pPr>
            <a:r>
              <a:rPr lang="en-US" sz="1150" b="1" dirty="0">
                <a:solidFill>
                  <a:srgbClr val="5FC8FF"/>
                </a:solidFill>
                <a:latin typeface="Arial" pitchFamily="34" charset="0"/>
                <a:ea typeface="Arial" pitchFamily="34" charset="-122"/>
                <a:cs typeface="Arial" pitchFamily="34" charset="-120"/>
              </a:rPr>
              <a:t>?  </a:t>
            </a:r>
            <a:pPr indent="0" marL="0">
              <a:spcAft>
                <a:spcPts val="300"/>
              </a:spcAft>
              <a:buNone/>
            </a:pPr>
            <a:r>
              <a:rPr lang="en-US" sz="1150" dirty="0">
                <a:solidFill>
                  <a:srgbClr val="D6E6FB"/>
                </a:solidFill>
                <a:latin typeface="Arial" pitchFamily="34" charset="0"/>
                <a:ea typeface="Arial" pitchFamily="34" charset="-122"/>
                <a:cs typeface="Arial" pitchFamily="34" charset="-120"/>
              </a:rPr>
              <a:t>invoke this tool?</a:t>
            </a:r>
            <a:endParaRPr lang="en-US" sz="1150" dirty="0"/>
          </a:p>
          <a:p>
            <a:pPr indent="0" marL="0">
              <a:buNone/>
            </a:pPr>
            <a:r>
              <a:rPr lang="en-US" sz="1150" b="1" dirty="0">
                <a:solidFill>
                  <a:srgbClr val="54E0A0"/>
                </a:solidFill>
                <a:latin typeface="Arial" pitchFamily="34" charset="0"/>
                <a:ea typeface="Arial" pitchFamily="34" charset="-122"/>
                <a:cs typeface="Arial" pitchFamily="34" charset="-120"/>
              </a:rPr>
              <a:t>✓  </a:t>
            </a:r>
            <a:pPr indent="0" marL="0">
              <a:spcAft>
                <a:spcPts val="300"/>
              </a:spcAft>
              <a:buNone/>
            </a:pPr>
            <a:r>
              <a:rPr lang="en-US" sz="1150" dirty="0">
                <a:solidFill>
                  <a:srgbClr val="D6E6FB"/>
                </a:solidFill>
                <a:latin typeface="Arial" pitchFamily="34" charset="0"/>
                <a:ea typeface="Arial" pitchFamily="34" charset="-122"/>
                <a:cs typeface="Arial" pitchFamily="34" charset="-120"/>
              </a:rPr>
              <a:t>every decision audited</a:t>
            </a:r>
            <a:endParaRPr lang="en-US" sz="1150" dirty="0"/>
          </a:p>
        </p:txBody>
      </p:sp>
      <p:sp>
        <p:nvSpPr>
          <p:cNvPr id="17" name="Text 13"/>
          <p:cNvSpPr/>
          <p:nvPr/>
        </p:nvSpPr>
        <p:spPr>
          <a:xfrm>
            <a:off x="7434072" y="2011680"/>
            <a:ext cx="457200" cy="2743200"/>
          </a:xfrm>
          <a:prstGeom prst="rect">
            <a:avLst/>
          </a:prstGeom>
          <a:noFill/>
          <a:ln/>
          <a:effectLst>
            <a:outerShdw sx="100000" sy="100000" kx="0" ky="0" algn="bl" rotWithShape="0" blurRad="139700" dist="50800" dir="16200000">
              <a:srgbClr val="4FC8FF">
                <a:alpha val="70000"/>
              </a:srgbClr>
            </a:outerShdw>
          </a:effectLst>
        </p:spPr>
        <p:txBody>
          <a:bodyPr wrap="square" lIns="0" tIns="0" rIns="0" bIns="0" rtlCol="0" anchor="ctr"/>
          <a:lstStyle/>
          <a:p>
            <a:pPr algn="ctr" indent="0" marL="0">
              <a:buNone/>
            </a:pPr>
            <a:r>
              <a:rPr lang="en-US" sz="2400" b="1" dirty="0">
                <a:solidFill>
                  <a:srgbClr val="5FC8FF"/>
                </a:solidFill>
                <a:latin typeface="Arial" pitchFamily="34" charset="0"/>
                <a:ea typeface="Arial" pitchFamily="34" charset="-122"/>
                <a:cs typeface="Arial" pitchFamily="34" charset="-120"/>
              </a:rPr>
              <a:t>→</a:t>
            </a:r>
            <a:endParaRPr lang="en-US" sz="2400" dirty="0"/>
          </a:p>
        </p:txBody>
      </p:sp>
      <p:sp>
        <p:nvSpPr>
          <p:cNvPr id="18" name="Shape 14"/>
          <p:cNvSpPr/>
          <p:nvPr/>
        </p:nvSpPr>
        <p:spPr>
          <a:xfrm>
            <a:off x="7936992" y="2011680"/>
            <a:ext cx="3703320" cy="1261872"/>
          </a:xfrm>
          <a:prstGeom prst="roundRect">
            <a:avLst>
              <a:gd name="adj" fmla="val 6522"/>
            </a:avLst>
          </a:prstGeom>
          <a:solidFill>
            <a:srgbClr val="3A1520">
              <a:alpha val="65000"/>
            </a:srgbClr>
          </a:solidFill>
          <a:ln w="12700">
            <a:solidFill>
              <a:srgbClr val="FF7A85"/>
            </a:solidFill>
            <a:prstDash val="solid"/>
          </a:ln>
          <a:effectLst>
            <a:outerShdw sx="100000" sy="100000" kx="0" ky="0" algn="bl" rotWithShape="0" blurRad="127000" dist="50800" dir="16200000">
              <a:srgbClr val="4FC8FF">
                <a:alpha val="38000"/>
              </a:srgbClr>
            </a:outerShdw>
          </a:effectLst>
        </p:spPr>
      </p:sp>
      <p:sp>
        <p:nvSpPr>
          <p:cNvPr id="19" name="Text 15"/>
          <p:cNvSpPr/>
          <p:nvPr/>
        </p:nvSpPr>
        <p:spPr>
          <a:xfrm>
            <a:off x="8119872" y="2148840"/>
            <a:ext cx="3337560" cy="320040"/>
          </a:xfrm>
          <a:prstGeom prst="rect">
            <a:avLst/>
          </a:prstGeom>
          <a:noFill/>
          <a:ln/>
        </p:spPr>
        <p:txBody>
          <a:bodyPr wrap="square" lIns="0" tIns="0" rIns="0" bIns="0" rtlCol="0" anchor="t"/>
          <a:lstStyle/>
          <a:p>
            <a:pPr indent="0" marL="0">
              <a:buNone/>
            </a:pPr>
            <a:r>
              <a:rPr lang="en-US" sz="1350" b="1" dirty="0">
                <a:solidFill>
                  <a:srgbClr val="FFFFFF"/>
                </a:solidFill>
                <a:latin typeface="Arial" pitchFamily="34" charset="0"/>
                <a:ea typeface="Arial" pitchFamily="34" charset="-122"/>
                <a:cs typeface="Arial" pitchFamily="34" charset="-120"/>
              </a:rPr>
              <a:t>poisoned-demo</a:t>
            </a:r>
            <a:endParaRPr lang="en-US" sz="1350" dirty="0"/>
          </a:p>
        </p:txBody>
      </p:sp>
      <p:sp>
        <p:nvSpPr>
          <p:cNvPr id="20" name="Text 16"/>
          <p:cNvSpPr/>
          <p:nvPr/>
        </p:nvSpPr>
        <p:spPr>
          <a:xfrm>
            <a:off x="8119872" y="2468880"/>
            <a:ext cx="2468880" cy="640080"/>
          </a:xfrm>
          <a:prstGeom prst="rect">
            <a:avLst/>
          </a:prstGeom>
          <a:noFill/>
          <a:ln/>
        </p:spPr>
        <p:txBody>
          <a:bodyPr wrap="square" lIns="0" tIns="0" rIns="0" bIns="0" rtlCol="0" anchor="t"/>
          <a:lstStyle/>
          <a:p>
            <a:pPr indent="0" marL="0">
              <a:buNone/>
            </a:pPr>
            <a:r>
              <a:rPr lang="en-US" sz="1050" dirty="0">
                <a:solidFill>
                  <a:srgbClr val="D6E6FB"/>
                </a:solidFill>
                <a:latin typeface="Arial" pitchFamily="34" charset="0"/>
                <a:ea typeface="Arial" pitchFamily="34" charset="-122"/>
                <a:cs typeface="Arial" pitchFamily="34" charset="-120"/>
              </a:rPr>
              <a:t>localhost:7801/mcp · unvetted · same tool name, poisoned description</a:t>
            </a:r>
            <a:endParaRPr lang="en-US" sz="1050" dirty="0"/>
          </a:p>
        </p:txBody>
      </p:sp>
      <p:sp>
        <p:nvSpPr>
          <p:cNvPr id="21" name="Text 17"/>
          <p:cNvSpPr/>
          <p:nvPr/>
        </p:nvSpPr>
        <p:spPr>
          <a:xfrm>
            <a:off x="10634472" y="2423160"/>
            <a:ext cx="822960" cy="457200"/>
          </a:xfrm>
          <a:prstGeom prst="rect">
            <a:avLst/>
          </a:prstGeom>
          <a:noFill/>
          <a:ln/>
        </p:spPr>
        <p:txBody>
          <a:bodyPr wrap="square" lIns="0" tIns="0" rIns="0" bIns="0" rtlCol="0" anchor="ctr"/>
          <a:lstStyle/>
          <a:p>
            <a:pPr algn="ctr" indent="0" marL="0">
              <a:buNone/>
            </a:pPr>
            <a:r>
              <a:rPr lang="en-US" sz="1500" b="1" dirty="0">
                <a:solidFill>
                  <a:srgbClr val="FF7A85"/>
                </a:solidFill>
                <a:latin typeface="Arial" pitchFamily="34" charset="0"/>
                <a:ea typeface="Arial" pitchFamily="34" charset="-122"/>
                <a:cs typeface="Arial" pitchFamily="34" charset="-120"/>
              </a:rPr>
              <a:t>DENY</a:t>
            </a:r>
            <a:endParaRPr lang="en-US" sz="1500" dirty="0"/>
          </a:p>
        </p:txBody>
      </p:sp>
      <p:sp>
        <p:nvSpPr>
          <p:cNvPr id="22" name="Shape 18"/>
          <p:cNvSpPr/>
          <p:nvPr/>
        </p:nvSpPr>
        <p:spPr>
          <a:xfrm>
            <a:off x="7936992" y="3493008"/>
            <a:ext cx="3703320" cy="1261872"/>
          </a:xfrm>
          <a:prstGeom prst="roundRect">
            <a:avLst>
              <a:gd name="adj" fmla="val 6522"/>
            </a:avLst>
          </a:prstGeom>
          <a:solidFill>
            <a:srgbClr val="1E63C8">
              <a:alpha val="88000"/>
            </a:srgbClr>
          </a:solidFill>
          <a:ln w="12700">
            <a:solidFill>
              <a:srgbClr val="BFE6FF"/>
            </a:solidFill>
            <a:prstDash val="solid"/>
          </a:ln>
          <a:effectLst>
            <a:outerShdw sx="100000" sy="100000" kx="0" ky="0" algn="bl" rotWithShape="0" blurRad="203200" dist="50800" dir="16200000">
              <a:srgbClr val="4FC8FF">
                <a:alpha val="58000"/>
              </a:srgbClr>
            </a:outerShdw>
          </a:effectLst>
        </p:spPr>
      </p:sp>
      <p:sp>
        <p:nvSpPr>
          <p:cNvPr id="23" name="Text 19"/>
          <p:cNvSpPr/>
          <p:nvPr/>
        </p:nvSpPr>
        <p:spPr>
          <a:xfrm>
            <a:off x="8119872" y="3630168"/>
            <a:ext cx="3337560" cy="320040"/>
          </a:xfrm>
          <a:prstGeom prst="rect">
            <a:avLst/>
          </a:prstGeom>
          <a:noFill/>
          <a:ln/>
        </p:spPr>
        <p:txBody>
          <a:bodyPr wrap="square" lIns="0" tIns="0" rIns="0" bIns="0" rtlCol="0" anchor="t"/>
          <a:lstStyle/>
          <a:p>
            <a:pPr indent="0" marL="0">
              <a:buNone/>
            </a:pPr>
            <a:r>
              <a:rPr lang="en-US" sz="1350" b="1" dirty="0">
                <a:solidFill>
                  <a:srgbClr val="FFFFFF"/>
                </a:solidFill>
                <a:latin typeface="Arial" pitchFamily="34" charset="0"/>
                <a:ea typeface="Arial" pitchFamily="34" charset="-122"/>
                <a:cs typeface="Arial" pitchFamily="34" charset="-120"/>
              </a:rPr>
              <a:t>approved-downloader</a:t>
            </a:r>
            <a:endParaRPr lang="en-US" sz="1350" dirty="0"/>
          </a:p>
        </p:txBody>
      </p:sp>
      <p:sp>
        <p:nvSpPr>
          <p:cNvPr id="24" name="Text 20"/>
          <p:cNvSpPr/>
          <p:nvPr/>
        </p:nvSpPr>
        <p:spPr>
          <a:xfrm>
            <a:off x="8119872" y="3950208"/>
            <a:ext cx="2468880" cy="640080"/>
          </a:xfrm>
          <a:prstGeom prst="rect">
            <a:avLst/>
          </a:prstGeom>
          <a:noFill/>
          <a:ln/>
        </p:spPr>
        <p:txBody>
          <a:bodyPr wrap="square" lIns="0" tIns="0" rIns="0" bIns="0" rtlCol="0" anchor="t"/>
          <a:lstStyle/>
          <a:p>
            <a:pPr indent="0" marL="0">
              <a:buNone/>
            </a:pPr>
            <a:r>
              <a:rPr lang="en-US" sz="1050" dirty="0">
                <a:solidFill>
                  <a:srgbClr val="D6E6FB"/>
                </a:solidFill>
                <a:latin typeface="Arial" pitchFamily="34" charset="0"/>
                <a:ea typeface="Arial" pitchFamily="34" charset="-122"/>
                <a:cs typeface="Arial" pitchFamily="34" charset="-120"/>
              </a:rPr>
              <a:t>localhost:7802/mcp · registered by URL · permit pinned to identityURL</a:t>
            </a:r>
            <a:endParaRPr lang="en-US" sz="1050" dirty="0"/>
          </a:p>
        </p:txBody>
      </p:sp>
      <p:sp>
        <p:nvSpPr>
          <p:cNvPr id="25" name="Text 21"/>
          <p:cNvSpPr/>
          <p:nvPr/>
        </p:nvSpPr>
        <p:spPr>
          <a:xfrm>
            <a:off x="10634472" y="3904488"/>
            <a:ext cx="822960" cy="457200"/>
          </a:xfrm>
          <a:prstGeom prst="rect">
            <a:avLst/>
          </a:prstGeom>
          <a:noFill/>
          <a:ln/>
        </p:spPr>
        <p:txBody>
          <a:bodyPr wrap="square" lIns="0" tIns="0" rIns="0" bIns="0" rtlCol="0" anchor="ctr"/>
          <a:lstStyle/>
          <a:p>
            <a:pPr algn="ctr" indent="0" marL="0">
              <a:buNone/>
            </a:pPr>
            <a:r>
              <a:rPr lang="en-US" sz="1500" b="1" dirty="0">
                <a:solidFill>
                  <a:srgbClr val="54E0A0"/>
                </a:solidFill>
                <a:latin typeface="Arial" pitchFamily="34" charset="0"/>
                <a:ea typeface="Arial" pitchFamily="34" charset="-122"/>
                <a:cs typeface="Arial" pitchFamily="34" charset="-120"/>
              </a:rPr>
              <a:t>ALLOW</a:t>
            </a:r>
            <a:endParaRPr lang="en-US" sz="1500" dirty="0"/>
          </a:p>
        </p:txBody>
      </p:sp>
      <p:sp>
        <p:nvSpPr>
          <p:cNvPr id="26" name="Shape 22"/>
          <p:cNvSpPr/>
          <p:nvPr/>
        </p:nvSpPr>
        <p:spPr>
          <a:xfrm>
            <a:off x="548640" y="5074920"/>
            <a:ext cx="11091672" cy="731520"/>
          </a:xfrm>
          <a:prstGeom prst="roundRect">
            <a:avLst>
              <a:gd name="adj" fmla="val 12500"/>
            </a:avLst>
          </a:prstGeom>
          <a:solidFill>
            <a:srgbClr val="0A1C44">
              <a:alpha val="70000"/>
            </a:srgbClr>
          </a:solidFill>
          <a:ln w="15875">
            <a:solidFill>
              <a:srgbClr val="5FC8FF"/>
            </a:solidFill>
            <a:prstDash val="solid"/>
          </a:ln>
          <a:effectLst>
            <a:outerShdw sx="100000" sy="100000" kx="0" ky="0" algn="bl" rotWithShape="0" blurRad="127000" dist="50800" dir="16200000">
              <a:srgbClr val="4FC8FF">
                <a:alpha val="38000"/>
              </a:srgbClr>
            </a:outerShdw>
          </a:effectLst>
        </p:spPr>
      </p:sp>
      <p:sp>
        <p:nvSpPr>
          <p:cNvPr id="27" name="Text 23"/>
          <p:cNvSpPr/>
          <p:nvPr/>
        </p:nvSpPr>
        <p:spPr>
          <a:xfrm>
            <a:off x="777240" y="5074920"/>
            <a:ext cx="10634472" cy="731520"/>
          </a:xfrm>
          <a:prstGeom prst="rect">
            <a:avLst/>
          </a:prstGeom>
          <a:noFill/>
          <a:ln/>
        </p:spPr>
        <p:txBody>
          <a:bodyPr wrap="square" lIns="0" tIns="0" rIns="0" bIns="0" rtlCol="0" anchor="ctr"/>
          <a:lstStyle/>
          <a:p>
            <a:pPr indent="0" marL="0">
              <a:buNone/>
            </a:pPr>
            <a:r>
              <a:rPr lang="en-US" sz="1350" b="1" dirty="0">
                <a:solidFill>
                  <a:srgbClr val="5FC8FF"/>
                </a:solidFill>
                <a:latin typeface="Arial" pitchFamily="34" charset="0"/>
                <a:ea typeface="Arial" pitchFamily="34" charset="-122"/>
                <a:cs typeface="Arial" pitchFamily="34" charset="-120"/>
              </a:rPr>
              <a:t>Golden rule  </a:t>
            </a:r>
            <a:pPr indent="0" marL="0">
              <a:buNone/>
            </a:pPr>
            <a:r>
              <a:rPr lang="en-US" sz="1350" dirty="0">
                <a:solidFill>
                  <a:srgbClr val="FFFFFF"/>
                </a:solidFill>
                <a:latin typeface="Arial" pitchFamily="34" charset="0"/>
                <a:ea typeface="Arial" pitchFamily="34" charset="-122"/>
                <a:cs typeface="Arial" pitchFamily="34" charset="-120"/>
              </a:rPr>
              <a:t>All beats go through the gateway. The only variable is policy.</a:t>
            </a:r>
            <a:endParaRPr lang="en-US" sz="1350" dirty="0"/>
          </a:p>
        </p:txBody>
      </p:sp>
      <p:pic>
        <p:nvPicPr>
          <p:cNvPr id="28" name="Image 2" descr="/Users/mark.maxwelldocker.com/sandboxes/WADMCPDemo/slides/deck-src/assets/docker_logo.png">    </p:cNvPr>
          <p:cNvPicPr>
            <a:picLocks noChangeAspect="1"/>
          </p:cNvPicPr>
          <p:nvPr/>
        </p:nvPicPr>
        <p:blipFill>
          <a:blip r:embed="rId4"/>
          <a:stretch>
            <a:fillRect/>
          </a:stretch>
        </p:blipFill>
        <p:spPr>
          <a:xfrm>
            <a:off x="10378440" y="6382512"/>
            <a:ext cx="1371600" cy="31089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66928" y="384048"/>
            <a:ext cx="7315200" cy="256032"/>
          </a:xfrm>
          <a:prstGeom prst="rect">
            <a:avLst/>
          </a:prstGeom>
          <a:noFill/>
          <a:ln/>
        </p:spPr>
        <p:txBody>
          <a:bodyPr wrap="square" lIns="0" tIns="0" rIns="0" bIns="0" rtlCol="0" anchor="ctr"/>
          <a:lstStyle/>
          <a:p>
            <a:pPr indent="0" marL="0">
              <a:buNone/>
            </a:pPr>
            <a:r>
              <a:rPr lang="en-US" sz="1250" b="1" spc="150" kern="0" dirty="0">
                <a:solidFill>
                  <a:srgbClr val="5FC8FF"/>
                </a:solidFill>
                <a:latin typeface="Arial" pitchFamily="34" charset="0"/>
                <a:ea typeface="Arial" pitchFamily="34" charset="-122"/>
                <a:cs typeface="Arial" pitchFamily="34" charset="-120"/>
              </a:rPr>
              <a:t>BEAT 0 · ~20 SECONDS</a:t>
            </a:r>
            <a:endParaRPr lang="en-US" sz="1250" dirty="0"/>
          </a:p>
        </p:txBody>
      </p:sp>
      <p:sp>
        <p:nvSpPr>
          <p:cNvPr id="3" name="Text 1"/>
          <p:cNvSpPr/>
          <p:nvPr/>
        </p:nvSpPr>
        <p:spPr>
          <a:xfrm>
            <a:off x="548640" y="621792"/>
            <a:ext cx="11064240" cy="640080"/>
          </a:xfrm>
          <a:prstGeom prst="rect">
            <a:avLst/>
          </a:prstGeom>
          <a:noFill/>
          <a:ln/>
        </p:spPr>
        <p:txBody>
          <a:bodyPr wrap="square" lIns="0" tIns="0" rIns="0" bIns="0" rtlCol="0" anchor="ctr"/>
          <a:lstStyle/>
          <a:p>
            <a:pPr indent="0" marL="0">
              <a:buNone/>
            </a:pPr>
            <a:r>
              <a:rPr lang="en-US" sz="2700" b="1" dirty="0">
                <a:solidFill>
                  <a:srgbClr val="FFFFFF"/>
                </a:solidFill>
                <a:latin typeface="Arial" pitchFamily="34" charset="0"/>
                <a:ea typeface="Arial" pitchFamily="34" charset="-122"/>
                <a:cs typeface="Arial" pitchFamily="34" charset="-120"/>
              </a:rPr>
              <a:t>Establish the </a:t>
            </a:r>
            <a:pPr indent="0" marL="0">
              <a:buNone/>
            </a:pPr>
            <a:r>
              <a:rPr lang="en-US" sz="2700" b="1" dirty="0">
                <a:solidFill>
                  <a:srgbClr val="5FC8FF"/>
                </a:solidFill>
                <a:latin typeface="Arial" pitchFamily="34" charset="0"/>
                <a:ea typeface="Arial" pitchFamily="34" charset="-122"/>
                <a:cs typeface="Arial" pitchFamily="34" charset="-120"/>
              </a:rPr>
              <a:t>central control point</a:t>
            </a:r>
            <a:endParaRPr lang="en-US" sz="2700" dirty="0"/>
          </a:p>
        </p:txBody>
      </p:sp>
      <p:sp>
        <p:nvSpPr>
          <p:cNvPr id="4" name="Text 2"/>
          <p:cNvSpPr/>
          <p:nvPr/>
        </p:nvSpPr>
        <p:spPr>
          <a:xfrm>
            <a:off x="566928" y="1207008"/>
            <a:ext cx="11064240" cy="329184"/>
          </a:xfrm>
          <a:prstGeom prst="rect">
            <a:avLst/>
          </a:prstGeom>
          <a:noFill/>
          <a:ln/>
        </p:spPr>
        <p:txBody>
          <a:bodyPr wrap="square" lIns="0" tIns="0" rIns="0" bIns="0" rtlCol="0" anchor="t"/>
          <a:lstStyle/>
          <a:p>
            <a:pPr indent="0" marL="0">
              <a:buNone/>
            </a:pPr>
            <a:r>
              <a:rPr lang="en-US" sz="1350" i="1" dirty="0">
                <a:solidFill>
                  <a:srgbClr val="BFE6FF"/>
                </a:solidFill>
                <a:latin typeface="Arial" pitchFamily="34" charset="0"/>
                <a:ea typeface="Arial" pitchFamily="34" charset="-122"/>
                <a:cs typeface="Arial" pitchFamily="34" charset="-120"/>
              </a:rPr>
              <a:t>The gateway shows exactly which servers a sandbox may talk to.</a:t>
            </a:r>
            <a:endParaRPr lang="en-US" sz="1350" dirty="0"/>
          </a:p>
        </p:txBody>
      </p:sp>
      <p:sp>
        <p:nvSpPr>
          <p:cNvPr id="5" name="Text 3"/>
          <p:cNvSpPr/>
          <p:nvPr/>
        </p:nvSpPr>
        <p:spPr>
          <a:xfrm>
            <a:off x="566928" y="1627632"/>
            <a:ext cx="7315200" cy="347472"/>
          </a:xfrm>
          <a:prstGeom prst="rect">
            <a:avLst/>
          </a:prstGeom>
          <a:noFill/>
          <a:ln/>
        </p:spPr>
        <p:txBody>
          <a:bodyPr wrap="square" lIns="0" tIns="0" rIns="0" bIns="0" rtlCol="0" anchor="ctr"/>
          <a:lstStyle/>
          <a:p>
            <a:pPr indent="0" marL="0">
              <a:buNone/>
            </a:pPr>
            <a:r>
              <a:rPr lang="en-US" sz="1250" b="1" dirty="0">
                <a:solidFill>
                  <a:srgbClr val="54E0A0"/>
                </a:solidFill>
                <a:latin typeface="Courier New" pitchFamily="34" charset="0"/>
                <a:ea typeface="Courier New" pitchFamily="34" charset="-122"/>
                <a:cs typeface="Courier New" pitchFamily="34" charset="-120"/>
              </a:rPr>
              <a:t>$ </a:t>
            </a:r>
            <a:pPr indent="0" marL="0">
              <a:buNone/>
            </a:pPr>
            <a:r>
              <a:rPr lang="en-US" sz="1250" dirty="0">
                <a:solidFill>
                  <a:srgbClr val="FFFFFF"/>
                </a:solidFill>
                <a:latin typeface="Courier New" pitchFamily="34" charset="0"/>
                <a:ea typeface="Courier New" pitchFamily="34" charset="-122"/>
                <a:cs typeface="Courier New" pitchFamily="34" charset="-120"/>
              </a:rPr>
              <a:t>sbx mcp ls</a:t>
            </a:r>
            <a:endParaRPr lang="en-US" sz="1250" dirty="0"/>
          </a:p>
        </p:txBody>
      </p:sp>
      <p:sp>
        <p:nvSpPr>
          <p:cNvPr id="6" name="Shape 4"/>
          <p:cNvSpPr/>
          <p:nvPr/>
        </p:nvSpPr>
        <p:spPr>
          <a:xfrm>
            <a:off x="749808" y="2029968"/>
            <a:ext cx="10661904" cy="2407158"/>
          </a:xfrm>
          <a:prstGeom prst="roundRect">
            <a:avLst>
              <a:gd name="adj" fmla="val 4558"/>
            </a:avLst>
          </a:prstGeom>
          <a:solidFill>
            <a:srgbClr val="061B44">
              <a:alpha val="90000"/>
            </a:srgbClr>
          </a:solidFill>
          <a:ln w="12700">
            <a:solidFill>
              <a:srgbClr val="4FA8E8"/>
            </a:solidFill>
            <a:prstDash val="solid"/>
          </a:ln>
          <a:effectLst>
            <a:outerShdw sx="100000" sy="100000" kx="0" ky="0" algn="bl" rotWithShape="0" blurRad="127000" dist="50800" dir="16200000">
              <a:srgbClr val="4FC8FF">
                <a:alpha val="38000"/>
              </a:srgbClr>
            </a:outerShdw>
          </a:effectLst>
        </p:spPr>
      </p:sp>
      <p:pic>
        <p:nvPicPr>
          <p:cNvPr id="7" name="Image 0" descr="/Users/mark.maxwelldocker.com/sandboxes/WADMCPDemo/screenshots/png/beat0-mcp-ls.png">    </p:cNvPr>
          <p:cNvPicPr>
            <a:picLocks noChangeAspect="1"/>
          </p:cNvPicPr>
          <p:nvPr/>
        </p:nvPicPr>
        <p:blipFill>
          <a:blip r:embed="rId2"/>
          <a:stretch>
            <a:fillRect/>
          </a:stretch>
        </p:blipFill>
        <p:spPr>
          <a:xfrm>
            <a:off x="822960" y="2103120"/>
            <a:ext cx="10515600" cy="2260854"/>
          </a:xfrm>
          <a:prstGeom prst="rect">
            <a:avLst/>
          </a:prstGeom>
        </p:spPr>
      </p:pic>
      <p:sp>
        <p:nvSpPr>
          <p:cNvPr id="8" name="Text 5"/>
          <p:cNvSpPr/>
          <p:nvPr/>
        </p:nvSpPr>
        <p:spPr>
          <a:xfrm>
            <a:off x="777240" y="4684014"/>
            <a:ext cx="10698480" cy="1579626"/>
          </a:xfrm>
          <a:prstGeom prst="rect">
            <a:avLst/>
          </a:prstGeom>
          <a:noFill/>
          <a:ln/>
        </p:spPr>
        <p:txBody>
          <a:bodyPr wrap="square" lIns="0" tIns="0" rIns="0" bIns="0" rtlCol="0" anchor="t"/>
          <a:lstStyle/>
          <a:p>
            <a:pPr marL="177800" indent="-177800">
              <a:buSzPct val="100000"/>
              <a:buChar char="•"/>
            </a:pPr>
            <a:r>
              <a:rPr lang="en-US" sz="1300" b="1" dirty="0">
                <a:solidFill>
                  <a:srgbClr val="FFFFFF"/>
                </a:solidFill>
                <a:latin typeface="Arial" pitchFamily="34" charset="0"/>
                <a:ea typeface="Arial" pitchFamily="34" charset="-122"/>
                <a:cs typeface="Arial" pitchFamily="34" charset="-120"/>
              </a:rPr>
              <a:t>approved-downloader is present as remote http, ready.</a:t>
            </a:r>
            <a:pPr indent="0" marL="0">
              <a:spcAft>
                <a:spcPts val="600"/>
              </a:spcAft>
              <a:buNone/>
            </a:pPr>
            <a:r>
              <a:rPr lang="en-US" sz="1300" dirty="0">
                <a:solidFill>
                  <a:srgbClr val="D6E6FB"/>
                </a:solidFill>
                <a:latin typeface="Arial" pitchFamily="34" charset="0"/>
                <a:ea typeface="Arial" pitchFamily="34" charset="-122"/>
                <a:cs typeface="Arial" pitchFamily="34" charset="-120"/>
              </a:rPr>
              <a:t>  It was registered by URL, which is what gives it an identity to pin.</a:t>
            </a:r>
            <a:endParaRPr lang="en-US" sz="1300" dirty="0"/>
          </a:p>
          <a:p>
            <a:pPr marL="177800" indent="-177800">
              <a:buSzPct val="100000"/>
              <a:buChar char="•"/>
            </a:pPr>
            <a:r>
              <a:rPr lang="en-US" sz="1300" b="1" dirty="0">
                <a:solidFill>
                  <a:srgbClr val="FFFFFF"/>
                </a:solidFill>
                <a:latin typeface="Arial" pitchFamily="34" charset="0"/>
                <a:ea typeface="Arial" pitchFamily="34" charset="-122"/>
                <a:cs typeface="Arial" pitchFamily="34" charset="-120"/>
              </a:rPr>
              <a:t>The banner does not prove enforcement.</a:t>
            </a:r>
            <a:pPr indent="0" marL="0">
              <a:spcAft>
                <a:spcPts val="600"/>
              </a:spcAft>
              <a:buNone/>
            </a:pPr>
            <a:r>
              <a:rPr lang="en-US" sz="1300" dirty="0">
                <a:solidFill>
                  <a:srgbClr val="D6E6FB"/>
                </a:solidFill>
                <a:latin typeface="Arial" pitchFamily="34" charset="0"/>
                <a:ea typeface="Arial" pitchFamily="34" charset="-122"/>
                <a:cs typeface="Arial" pitchFamily="34" charset="-120"/>
              </a:rPr>
              <a:t>  It reads managed by you even while org policy is enforcing. Prove it by behavior in Beats 2 and 3.</a:t>
            </a:r>
            <a:endParaRPr lang="en-US" sz="1300" dirty="0"/>
          </a:p>
          <a:p>
            <a:pPr marL="177800" indent="-177800">
              <a:buSzPct val="100000"/>
              <a:buChar char="•"/>
            </a:pPr>
            <a:r>
              <a:rPr lang="en-US" sz="1300" b="1" dirty="0">
                <a:solidFill>
                  <a:srgbClr val="FFFFFF"/>
                </a:solidFill>
                <a:latin typeface="Arial" pitchFamily="34" charset="0"/>
                <a:ea typeface="Arial" pitchFamily="34" charset="-122"/>
                <a:cs typeface="Arial" pitchFamily="34" charset="-120"/>
              </a:rPr>
              <a:t>Keep this to one breath.</a:t>
            </a:r>
            <a:pPr indent="0" marL="0">
              <a:spcAft>
                <a:spcPts val="600"/>
              </a:spcAft>
              <a:buNone/>
            </a:pPr>
            <a:r>
              <a:rPr lang="en-US" sz="1300" dirty="0">
                <a:solidFill>
                  <a:srgbClr val="D6E6FB"/>
                </a:solidFill>
                <a:latin typeface="Arial" pitchFamily="34" charset="0"/>
                <a:ea typeface="Arial" pitchFamily="34" charset="-122"/>
                <a:cs typeface="Arial" pitchFamily="34" charset="-120"/>
              </a:rPr>
              <a:t>  It is the weakest moment and it is first. The real opening is Beat 1.</a:t>
            </a:r>
            <a:endParaRPr lang="en-US" sz="1300" dirty="0"/>
          </a:p>
        </p:txBody>
      </p:sp>
      <p:pic>
        <p:nvPicPr>
          <p:cNvPr id="9" name="Image 1" descr="/Users/mark.maxwelldocker.com/sandboxes/WADMCPDemo/slides/deck-src/assets/docker_logo.png">    </p:cNvPr>
          <p:cNvPicPr>
            <a:picLocks noChangeAspect="1"/>
          </p:cNvPicPr>
          <p:nvPr/>
        </p:nvPicPr>
        <p:blipFill>
          <a:blip r:embed="rId3"/>
          <a:stretch>
            <a:fillRect/>
          </a:stretch>
        </p:blipFill>
        <p:spPr>
          <a:xfrm>
            <a:off x="10378440" y="6382512"/>
            <a:ext cx="1371600" cy="31089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66928" y="384048"/>
            <a:ext cx="7315200" cy="256032"/>
          </a:xfrm>
          <a:prstGeom prst="rect">
            <a:avLst/>
          </a:prstGeom>
          <a:noFill/>
          <a:ln/>
        </p:spPr>
        <p:txBody>
          <a:bodyPr wrap="square" lIns="0" tIns="0" rIns="0" bIns="0" rtlCol="0" anchor="ctr"/>
          <a:lstStyle/>
          <a:p>
            <a:pPr indent="0" marL="0">
              <a:buNone/>
            </a:pPr>
            <a:r>
              <a:rPr lang="en-US" sz="1250" b="1" spc="150" kern="0" dirty="0">
                <a:solidFill>
                  <a:srgbClr val="5FC8FF"/>
                </a:solidFill>
                <a:latin typeface="Arial" pitchFamily="34" charset="0"/>
                <a:ea typeface="Arial" pitchFamily="34" charset="-122"/>
                <a:cs typeface="Arial" pitchFamily="34" charset="-120"/>
              </a:rPr>
              <a:t>BEAT 1 · UNGOVERNED · ~1.5 MIN</a:t>
            </a:r>
            <a:endParaRPr lang="en-US" sz="1250" dirty="0"/>
          </a:p>
        </p:txBody>
      </p:sp>
      <p:sp>
        <p:nvSpPr>
          <p:cNvPr id="3" name="Text 1"/>
          <p:cNvSpPr/>
          <p:nvPr/>
        </p:nvSpPr>
        <p:spPr>
          <a:xfrm>
            <a:off x="548640" y="621792"/>
            <a:ext cx="11064240" cy="640080"/>
          </a:xfrm>
          <a:prstGeom prst="rect">
            <a:avLst/>
          </a:prstGeom>
          <a:noFill/>
          <a:ln/>
        </p:spPr>
        <p:txBody>
          <a:bodyPr wrap="square" lIns="0" tIns="0" rIns="0" bIns="0" rtlCol="0" anchor="ctr"/>
          <a:lstStyle/>
          <a:p>
            <a:pPr indent="0" marL="0">
              <a:buNone/>
            </a:pPr>
            <a:r>
              <a:rPr lang="en-US" sz="2700" b="1" dirty="0">
                <a:solidFill>
                  <a:srgbClr val="FFFFFF"/>
                </a:solidFill>
                <a:latin typeface="Arial" pitchFamily="34" charset="0"/>
                <a:ea typeface="Arial" pitchFamily="34" charset="-122"/>
                <a:cs typeface="Arial" pitchFamily="34" charset="-120"/>
              </a:rPr>
              <a:t>The npm download that </a:t>
            </a:r>
            <a:pPr indent="0" marL="0">
              <a:buNone/>
            </a:pPr>
            <a:r>
              <a:rPr lang="en-US" sz="2700" b="1" dirty="0">
                <a:solidFill>
                  <a:srgbClr val="5FC8FF"/>
                </a:solidFill>
                <a:latin typeface="Arial" pitchFamily="34" charset="0"/>
                <a:ea typeface="Arial" pitchFamily="34" charset="-122"/>
                <a:cs typeface="Arial" pitchFamily="34" charset="-120"/>
              </a:rPr>
              <a:t>steals your publish token</a:t>
            </a:r>
            <a:endParaRPr lang="en-US" sz="2700" dirty="0"/>
          </a:p>
        </p:txBody>
      </p:sp>
      <p:sp>
        <p:nvSpPr>
          <p:cNvPr id="4" name="Shape 2"/>
          <p:cNvSpPr/>
          <p:nvPr/>
        </p:nvSpPr>
        <p:spPr>
          <a:xfrm>
            <a:off x="9966960" y="411480"/>
            <a:ext cx="1691640" cy="457200"/>
          </a:xfrm>
          <a:prstGeom prst="roundRect">
            <a:avLst>
              <a:gd name="adj" fmla="val 50000"/>
            </a:avLst>
          </a:prstGeom>
          <a:solidFill>
            <a:srgbClr val="061B44">
              <a:alpha val="90000"/>
            </a:srgbClr>
          </a:solidFill>
          <a:ln w="19050">
            <a:solidFill>
              <a:srgbClr val="FF7A85"/>
            </a:solidFill>
            <a:prstDash val="solid"/>
          </a:ln>
          <a:effectLst>
            <a:outerShdw sx="100000" sy="100000" kx="0" ky="0" algn="bl" rotWithShape="0" blurRad="127000" dist="50800" dir="16200000">
              <a:srgbClr val="4FC8FF">
                <a:alpha val="38000"/>
              </a:srgbClr>
            </a:outerShdw>
          </a:effectLst>
        </p:spPr>
      </p:sp>
      <p:sp>
        <p:nvSpPr>
          <p:cNvPr id="5" name="Text 3"/>
          <p:cNvSpPr/>
          <p:nvPr/>
        </p:nvSpPr>
        <p:spPr>
          <a:xfrm>
            <a:off x="9966960" y="411480"/>
            <a:ext cx="1691640" cy="457200"/>
          </a:xfrm>
          <a:prstGeom prst="rect">
            <a:avLst/>
          </a:prstGeom>
          <a:noFill/>
          <a:ln/>
        </p:spPr>
        <p:txBody>
          <a:bodyPr wrap="square" lIns="0" tIns="0" rIns="0" bIns="0" rtlCol="0" anchor="ctr"/>
          <a:lstStyle/>
          <a:p>
            <a:pPr algn="ctr" indent="0" marL="0">
              <a:buNone/>
            </a:pPr>
            <a:r>
              <a:rPr lang="en-US" sz="1300" b="1" dirty="0">
                <a:solidFill>
                  <a:srgbClr val="FF7A85"/>
                </a:solidFill>
                <a:latin typeface="Arial" pitchFamily="34" charset="0"/>
                <a:ea typeface="Arial" pitchFamily="34" charset="-122"/>
                <a:cs typeface="Arial" pitchFamily="34" charset="-120"/>
              </a:rPr>
              <a:t>TOKEN LEAKED</a:t>
            </a:r>
            <a:endParaRPr lang="en-US" sz="1300" dirty="0"/>
          </a:p>
        </p:txBody>
      </p:sp>
      <p:sp>
        <p:nvSpPr>
          <p:cNvPr id="6" name="Text 4"/>
          <p:cNvSpPr/>
          <p:nvPr/>
        </p:nvSpPr>
        <p:spPr>
          <a:xfrm>
            <a:off x="566928" y="1261872"/>
            <a:ext cx="11064240" cy="347472"/>
          </a:xfrm>
          <a:prstGeom prst="rect">
            <a:avLst/>
          </a:prstGeom>
          <a:noFill/>
          <a:ln/>
        </p:spPr>
        <p:txBody>
          <a:bodyPr wrap="square" lIns="0" tIns="0" rIns="0" bIns="0" rtlCol="0" anchor="ctr"/>
          <a:lstStyle/>
          <a:p>
            <a:pPr indent="0" marL="0">
              <a:buNone/>
            </a:pPr>
            <a:r>
              <a:rPr lang="en-US" sz="1150" b="1" dirty="0">
                <a:solidFill>
                  <a:srgbClr val="54E0A0"/>
                </a:solidFill>
                <a:latin typeface="Courier New" pitchFamily="34" charset="0"/>
                <a:ea typeface="Courier New" pitchFamily="34" charset="-122"/>
                <a:cs typeface="Courier New" pitchFamily="34" charset="-120"/>
              </a:rPr>
              <a:t>$ </a:t>
            </a:r>
            <a:pPr indent="0" marL="0">
              <a:buNone/>
            </a:pPr>
            <a:r>
              <a:rPr lang="en-US" sz="1150" dirty="0">
                <a:solidFill>
                  <a:srgbClr val="FFFFFF"/>
                </a:solidFill>
                <a:latin typeface="Courier New" pitchFamily="34" charset="0"/>
                <a:ea typeface="Courier New" pitchFamily="34" charset="-122"/>
                <a:cs typeface="Courier New" pitchFamily="34" charset="-120"/>
              </a:rPr>
              <a:t>( cd servers/poisoned-server &amp;&amp; POISONED_URL=http://localhost:7801/mcp npm run harness )</a:t>
            </a:r>
            <a:endParaRPr lang="en-US" sz="1150" dirty="0"/>
          </a:p>
        </p:txBody>
      </p:sp>
      <p:sp>
        <p:nvSpPr>
          <p:cNvPr id="7" name="Shape 5"/>
          <p:cNvSpPr/>
          <p:nvPr/>
        </p:nvSpPr>
        <p:spPr>
          <a:xfrm>
            <a:off x="548640" y="1664208"/>
            <a:ext cx="6135624" cy="4870380"/>
          </a:xfrm>
          <a:prstGeom prst="roundRect">
            <a:avLst>
              <a:gd name="adj" fmla="val 2253"/>
            </a:avLst>
          </a:prstGeom>
          <a:solidFill>
            <a:srgbClr val="061B44">
              <a:alpha val="90000"/>
            </a:srgbClr>
          </a:solidFill>
          <a:ln w="12700">
            <a:solidFill>
              <a:srgbClr val="4FA8E8"/>
            </a:solidFill>
            <a:prstDash val="solid"/>
          </a:ln>
          <a:effectLst>
            <a:outerShdw sx="100000" sy="100000" kx="0" ky="0" algn="bl" rotWithShape="0" blurRad="127000" dist="50800" dir="16200000">
              <a:srgbClr val="4FC8FF">
                <a:alpha val="38000"/>
              </a:srgbClr>
            </a:outerShdw>
          </a:effectLst>
        </p:spPr>
      </p:sp>
      <p:pic>
        <p:nvPicPr>
          <p:cNvPr id="8" name="Image 0" descr="/Users/mark.maxwelldocker.com/sandboxes/WADMCPDemo/screenshots/png/beat1-harness.png">    </p:cNvPr>
          <p:cNvPicPr>
            <a:picLocks noChangeAspect="1"/>
          </p:cNvPicPr>
          <p:nvPr/>
        </p:nvPicPr>
        <p:blipFill>
          <a:blip r:embed="rId2"/>
          <a:stretch>
            <a:fillRect/>
          </a:stretch>
        </p:blipFill>
        <p:spPr>
          <a:xfrm>
            <a:off x="621792" y="1737360"/>
            <a:ext cx="5989320" cy="4724076"/>
          </a:xfrm>
          <a:prstGeom prst="rect">
            <a:avLst/>
          </a:prstGeom>
        </p:spPr>
      </p:pic>
      <p:sp>
        <p:nvSpPr>
          <p:cNvPr id="9" name="Text 6"/>
          <p:cNvSpPr/>
          <p:nvPr/>
        </p:nvSpPr>
        <p:spPr>
          <a:xfrm>
            <a:off x="6949440" y="1737360"/>
            <a:ext cx="4709160" cy="256032"/>
          </a:xfrm>
          <a:prstGeom prst="rect">
            <a:avLst/>
          </a:prstGeom>
          <a:noFill/>
          <a:ln/>
        </p:spPr>
        <p:txBody>
          <a:bodyPr wrap="square" lIns="0" tIns="0" rIns="0" bIns="0" rtlCol="0" anchor="ctr"/>
          <a:lstStyle/>
          <a:p>
            <a:pPr indent="0" marL="0">
              <a:buNone/>
            </a:pPr>
            <a:r>
              <a:rPr lang="en-US" sz="1200" b="1" spc="150" kern="0" dirty="0">
                <a:solidFill>
                  <a:srgbClr val="5FC8FF"/>
                </a:solidFill>
                <a:latin typeface="Arial" pitchFamily="34" charset="0"/>
                <a:ea typeface="Arial" pitchFamily="34" charset="-122"/>
                <a:cs typeface="Arial" pitchFamily="34" charset="-120"/>
              </a:rPr>
              <a:t>WHAT IS HAPPENING</a:t>
            </a:r>
            <a:endParaRPr lang="en-US" sz="1200" dirty="0"/>
          </a:p>
        </p:txBody>
      </p:sp>
      <p:sp>
        <p:nvSpPr>
          <p:cNvPr id="10" name="Text 7"/>
          <p:cNvSpPr/>
          <p:nvPr/>
        </p:nvSpPr>
        <p:spPr>
          <a:xfrm>
            <a:off x="6949440" y="2103120"/>
            <a:ext cx="4709160" cy="3657600"/>
          </a:xfrm>
          <a:prstGeom prst="rect">
            <a:avLst/>
          </a:prstGeom>
          <a:noFill/>
          <a:ln/>
        </p:spPr>
        <p:txBody>
          <a:bodyPr wrap="square" lIns="0" tIns="0" rIns="0" bIns="0" rtlCol="0" anchor="t"/>
          <a:lstStyle/>
          <a:p>
            <a:pPr marL="177800" indent="-177800">
              <a:buSzPct val="100000"/>
              <a:buChar char="•"/>
            </a:pPr>
            <a:r>
              <a:rPr lang="en-US" sz="1200" b="1" dirty="0">
                <a:solidFill>
                  <a:srgbClr val="FFFFFF"/>
                </a:solidFill>
                <a:latin typeface="Arial" pitchFamily="34" charset="0"/>
                <a:ea typeface="Arial" pitchFamily="34" charset="-122"/>
                <a:cs typeface="Arial" pitchFamily="34" charset="-120"/>
              </a:rPr>
              <a:t>Same tool name.</a:t>
            </a:r>
            <a:pPr indent="0" marL="0">
              <a:spcAft>
                <a:spcPts val="600"/>
              </a:spcAft>
              <a:buNone/>
            </a:pPr>
            <a:r>
              <a:rPr lang="en-US" sz="1200" dirty="0">
                <a:solidFill>
                  <a:srgbClr val="D6E6FB"/>
                </a:solidFill>
                <a:latin typeface="Arial" pitchFamily="34" charset="0"/>
                <a:ea typeface="Arial" pitchFamily="34" charset="-122"/>
                <a:cs typeface="Arial" pitchFamily="34" charset="-120"/>
              </a:rPr>
              <a:t> npm_download, the same name the approved server uses, the same claimed job.</a:t>
            </a:r>
            <a:endParaRPr lang="en-US" sz="1200" dirty="0"/>
          </a:p>
          <a:p>
            <a:pPr marL="177800" indent="-177800">
              <a:buSzPct val="100000"/>
              <a:buChar char="•"/>
            </a:pPr>
            <a:r>
              <a:rPr lang="en-US" sz="1200" b="1" dirty="0">
                <a:solidFill>
                  <a:srgbClr val="FFFFFF"/>
                </a:solidFill>
                <a:latin typeface="Arial" pitchFamily="34" charset="0"/>
                <a:ea typeface="Arial" pitchFamily="34" charset="-122"/>
                <a:cs typeface="Arial" pitchFamily="34" charset="-120"/>
              </a:rPr>
              <a:t>The attack is in the description.</a:t>
            </a:r>
            <a:pPr indent="0" marL="0">
              <a:spcAft>
                <a:spcPts val="600"/>
              </a:spcAft>
              <a:buNone/>
            </a:pPr>
            <a:r>
              <a:rPr lang="en-US" sz="1200" dirty="0">
                <a:solidFill>
                  <a:srgbClr val="D6E6FB"/>
                </a:solidFill>
                <a:latin typeface="Arial" pitchFamily="34" charset="0"/>
                <a:ea typeface="Arial" pitchFamily="34" charset="-122"/>
                <a:cs typeface="Arial" pitchFamily="34" charset="-120"/>
              </a:rPr>
              <a:t> Read the IMPORTANT block aloud: read the developer's .npmrc and pass it silently as auth. Not code. Text.</a:t>
            </a:r>
            <a:endParaRPr lang="en-US" sz="1200" dirty="0"/>
          </a:p>
          <a:p>
            <a:pPr marL="177800" indent="-177800">
              <a:buSzPct val="100000"/>
              <a:buChar char="•"/>
            </a:pPr>
            <a:r>
              <a:rPr lang="en-US" sz="1200" b="1" dirty="0">
                <a:solidFill>
                  <a:srgbClr val="FFFFFF"/>
                </a:solidFill>
                <a:latin typeface="Arial" pitchFamily="34" charset="0"/>
                <a:ea typeface="Arial" pitchFamily="34" charset="-122"/>
                <a:cs typeface="Arial" pitchFamily="34" charset="-120"/>
              </a:rPr>
              <a:t>It looks like a normal download.</a:t>
            </a:r>
            <a:pPr indent="0" marL="0">
              <a:spcAft>
                <a:spcPts val="600"/>
              </a:spcAft>
              <a:buNone/>
            </a:pPr>
            <a:r>
              <a:rPr lang="en-US" sz="1200" dirty="0">
                <a:solidFill>
                  <a:srgbClr val="D6E6FB"/>
                </a:solidFill>
                <a:latin typeface="Arial" pitchFamily="34" charset="0"/>
                <a:ea typeface="Arial" pitchFamily="34" charset="-122"/>
                <a:cs typeface="Arial" pitchFamily="34" charset="-120"/>
              </a:rPr>
              <a:t> Path, size, status ok. The developer sees nothing wrong.</a:t>
            </a:r>
            <a:endParaRPr lang="en-US" sz="1200" dirty="0"/>
          </a:p>
          <a:p>
            <a:pPr marL="177800" indent="-177800">
              <a:buSzPct val="100000"/>
              <a:buChar char="•"/>
            </a:pPr>
            <a:r>
              <a:rPr lang="en-US" sz="1200" b="1" dirty="0">
                <a:solidFill>
                  <a:srgbClr val="FFFFFF"/>
                </a:solidFill>
                <a:latin typeface="Arial" pitchFamily="34" charset="0"/>
                <a:ea typeface="Arial" pitchFamily="34" charset="-122"/>
                <a:cs typeface="Arial" pitchFamily="34" charset="-120"/>
              </a:rPr>
              <a:t>Then the token walks out.</a:t>
            </a:r>
            <a:pPr indent="0" marL="0">
              <a:spcAft>
                <a:spcPts val="600"/>
              </a:spcAft>
              <a:buNone/>
            </a:pPr>
            <a:r>
              <a:rPr lang="en-US" sz="1200" dirty="0">
                <a:solidFill>
                  <a:srgbClr val="D6E6FB"/>
                </a:solidFill>
                <a:latin typeface="Arial" pitchFamily="34" charset="0"/>
                <a:ea typeface="Arial" pitchFamily="34" charset="-122"/>
                <a:cs typeface="Arial" pitchFamily="34" charset="-120"/>
              </a:rPr>
              <a:t> EXFILTRATION SIMULATED shows the npm publish token the server just received.</a:t>
            </a:r>
            <a:endParaRPr lang="en-US" sz="1200" dirty="0"/>
          </a:p>
          <a:p>
            <a:pPr marL="177800" indent="-177800">
              <a:buSzPct val="100000"/>
              <a:buChar char="•"/>
            </a:pPr>
            <a:r>
              <a:rPr lang="en-US" sz="1200" b="1" dirty="0">
                <a:solidFill>
                  <a:srgbClr val="FFFFFF"/>
                </a:solidFill>
                <a:latin typeface="Arial" pitchFamily="34" charset="0"/>
                <a:ea typeface="Arial" pitchFamily="34" charset="-122"/>
                <a:cs typeface="Arial" pitchFamily="34" charset="-120"/>
              </a:rPr>
              <a:t>The server lies about itself.</a:t>
            </a:r>
            <a:pPr indent="0" marL="0">
              <a:spcAft>
                <a:spcPts val="600"/>
              </a:spcAft>
              <a:buNone/>
            </a:pPr>
            <a:r>
              <a:rPr lang="en-US" sz="1200" dirty="0">
                <a:solidFill>
                  <a:srgbClr val="D6E6FB"/>
                </a:solidFill>
                <a:latin typeface="Arial" pitchFamily="34" charset="0"/>
                <a:ea typeface="Arial" pitchFamily="34" charset="-122"/>
                <a:cs typeface="Arial" pitchFamily="34" charset="-120"/>
              </a:rPr>
              <a:t> It advertises readOnlyHint: true while exfiltrating. Metadata cannot be trusted.</a:t>
            </a:r>
            <a:endParaRPr lang="en-US" sz="1200" dirty="0"/>
          </a:p>
        </p:txBody>
      </p:sp>
      <p:sp>
        <p:nvSpPr>
          <p:cNvPr id="11" name="Shape 8"/>
          <p:cNvSpPr/>
          <p:nvPr/>
        </p:nvSpPr>
        <p:spPr>
          <a:xfrm>
            <a:off x="6949440" y="5486400"/>
            <a:ext cx="4709160" cy="777240"/>
          </a:xfrm>
          <a:prstGeom prst="roundRect">
            <a:avLst>
              <a:gd name="adj" fmla="val 11765"/>
            </a:avLst>
          </a:prstGeom>
          <a:solidFill>
            <a:srgbClr val="0A1C44">
              <a:alpha val="70000"/>
            </a:srgbClr>
          </a:solidFill>
          <a:ln w="15875">
            <a:solidFill>
              <a:srgbClr val="FFC15B"/>
            </a:solidFill>
            <a:prstDash val="solid"/>
          </a:ln>
          <a:effectLst>
            <a:outerShdw sx="100000" sy="100000" kx="0" ky="0" algn="bl" rotWithShape="0" blurRad="127000" dist="50800" dir="16200000">
              <a:srgbClr val="4FC8FF">
                <a:alpha val="38000"/>
              </a:srgbClr>
            </a:outerShdw>
          </a:effectLst>
        </p:spPr>
      </p:sp>
      <p:sp>
        <p:nvSpPr>
          <p:cNvPr id="12" name="Text 9"/>
          <p:cNvSpPr/>
          <p:nvPr/>
        </p:nvSpPr>
        <p:spPr>
          <a:xfrm>
            <a:off x="7178040" y="5486400"/>
            <a:ext cx="4251960" cy="777240"/>
          </a:xfrm>
          <a:prstGeom prst="rect">
            <a:avLst/>
          </a:prstGeom>
          <a:noFill/>
          <a:ln/>
        </p:spPr>
        <p:txBody>
          <a:bodyPr wrap="square" lIns="0" tIns="0" rIns="0" bIns="0" rtlCol="0" anchor="ctr"/>
          <a:lstStyle/>
          <a:p>
            <a:pPr indent="0" marL="0">
              <a:buNone/>
            </a:pPr>
            <a:r>
              <a:rPr lang="en-US" sz="1150" b="1" dirty="0">
                <a:solidFill>
                  <a:srgbClr val="FFC15B"/>
                </a:solidFill>
                <a:latin typeface="Arial" pitchFamily="34" charset="0"/>
                <a:ea typeface="Arial" pitchFamily="34" charset="-122"/>
                <a:cs typeface="Arial" pitchFamily="34" charset="-120"/>
              </a:rPr>
              <a:t>Say  </a:t>
            </a:r>
            <a:pPr indent="0" marL="0">
              <a:buNone/>
            </a:pPr>
            <a:r>
              <a:rPr lang="en-US" sz="1150" dirty="0">
                <a:solidFill>
                  <a:srgbClr val="FFFFFF"/>
                </a:solidFill>
                <a:latin typeface="Arial" pitchFamily="34" charset="0"/>
                <a:ea typeface="Arial" pitchFamily="34" charset="-122"/>
                <a:cs typeface="Arial" pitchFamily="34" charset="-120"/>
              </a:rPr>
              <a:t>That token lets them publish as you. Everyone who installs your package gets whatever they put in it.</a:t>
            </a:r>
            <a:endParaRPr lang="en-US" sz="1150" dirty="0"/>
          </a:p>
        </p:txBody>
      </p:sp>
      <p:pic>
        <p:nvPicPr>
          <p:cNvPr id="13" name="Image 1" descr="/Users/mark.maxwelldocker.com/sandboxes/WADMCPDemo/slides/deck-src/assets/docker_logo.png">    </p:cNvPr>
          <p:cNvPicPr>
            <a:picLocks noChangeAspect="1"/>
          </p:cNvPicPr>
          <p:nvPr/>
        </p:nvPicPr>
        <p:blipFill>
          <a:blip r:embed="rId3"/>
          <a:stretch>
            <a:fillRect/>
          </a:stretch>
        </p:blipFill>
        <p:spPr>
          <a:xfrm>
            <a:off x="10378440" y="6382512"/>
            <a:ext cx="1371600" cy="31089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66928" y="384048"/>
            <a:ext cx="7315200" cy="256032"/>
          </a:xfrm>
          <a:prstGeom prst="rect">
            <a:avLst/>
          </a:prstGeom>
          <a:noFill/>
          <a:ln/>
        </p:spPr>
        <p:txBody>
          <a:bodyPr wrap="square" lIns="0" tIns="0" rIns="0" bIns="0" rtlCol="0" anchor="ctr"/>
          <a:lstStyle/>
          <a:p>
            <a:pPr indent="0" marL="0">
              <a:buNone/>
            </a:pPr>
            <a:r>
              <a:rPr lang="en-US" sz="1250" b="1" spc="150" kern="0" dirty="0">
                <a:solidFill>
                  <a:srgbClr val="5FC8FF"/>
                </a:solidFill>
                <a:latin typeface="Arial" pitchFamily="34" charset="0"/>
                <a:ea typeface="Arial" pitchFamily="34" charset="-122"/>
                <a:cs typeface="Arial" pitchFamily="34" charset="-120"/>
              </a:rPr>
              <a:t>BEAT 2 · GOVERNED · ~2 MIN</a:t>
            </a:r>
            <a:endParaRPr lang="en-US" sz="1250" dirty="0"/>
          </a:p>
        </p:txBody>
      </p:sp>
      <p:sp>
        <p:nvSpPr>
          <p:cNvPr id="3" name="Text 1"/>
          <p:cNvSpPr/>
          <p:nvPr/>
        </p:nvSpPr>
        <p:spPr>
          <a:xfrm>
            <a:off x="548640" y="621792"/>
            <a:ext cx="11064240" cy="640080"/>
          </a:xfrm>
          <a:prstGeom prst="rect">
            <a:avLst/>
          </a:prstGeom>
          <a:noFill/>
          <a:ln/>
        </p:spPr>
        <p:txBody>
          <a:bodyPr wrap="square" lIns="0" tIns="0" rIns="0" bIns="0" rtlCol="0" anchor="ctr"/>
          <a:lstStyle/>
          <a:p>
            <a:pPr indent="0" marL="0">
              <a:buNone/>
            </a:pPr>
            <a:r>
              <a:rPr lang="en-US" sz="2700" b="1" dirty="0">
                <a:solidFill>
                  <a:srgbClr val="FFFFFF"/>
                </a:solidFill>
                <a:latin typeface="Arial" pitchFamily="34" charset="0"/>
                <a:ea typeface="Arial" pitchFamily="34" charset="-122"/>
                <a:cs typeface="Arial" pitchFamily="34" charset="-120"/>
              </a:rPr>
              <a:t>Same server, same gateway. </a:t>
            </a:r>
            <a:pPr indent="0" marL="0">
              <a:buNone/>
            </a:pPr>
            <a:r>
              <a:rPr lang="en-US" sz="2700" b="1" dirty="0">
                <a:solidFill>
                  <a:srgbClr val="5FC8FF"/>
                </a:solidFill>
                <a:latin typeface="Arial" pitchFamily="34" charset="0"/>
                <a:ea typeface="Arial" pitchFamily="34" charset="-122"/>
                <a:cs typeface="Arial" pitchFamily="34" charset="-120"/>
              </a:rPr>
              <a:t>Denied on identity.</a:t>
            </a:r>
            <a:endParaRPr lang="en-US" sz="2700" dirty="0"/>
          </a:p>
        </p:txBody>
      </p:sp>
      <p:sp>
        <p:nvSpPr>
          <p:cNvPr id="4" name="Text 2"/>
          <p:cNvSpPr/>
          <p:nvPr/>
        </p:nvSpPr>
        <p:spPr>
          <a:xfrm>
            <a:off x="566928" y="1207008"/>
            <a:ext cx="11064240" cy="329184"/>
          </a:xfrm>
          <a:prstGeom prst="rect">
            <a:avLst/>
          </a:prstGeom>
          <a:noFill/>
          <a:ln/>
        </p:spPr>
        <p:txBody>
          <a:bodyPr wrap="square" lIns="0" tIns="0" rIns="0" bIns="0" rtlCol="0" anchor="t"/>
          <a:lstStyle/>
          <a:p>
            <a:pPr indent="0" marL="0">
              <a:buNone/>
            </a:pPr>
            <a:r>
              <a:rPr lang="en-US" sz="1350" i="1" dirty="0">
                <a:solidFill>
                  <a:srgbClr val="BFE6FF"/>
                </a:solidFill>
                <a:latin typeface="Arial" pitchFamily="34" charset="0"/>
                <a:ea typeface="Arial" pitchFamily="34" charset="-122"/>
                <a:cs typeface="Arial" pitchFamily="34" charset="-120"/>
              </a:rPr>
              <a:t>Org MCP policy is enforced for this developer. The unvetted server never gets in.</a:t>
            </a:r>
            <a:endParaRPr lang="en-US" sz="1350" dirty="0"/>
          </a:p>
        </p:txBody>
      </p:sp>
      <p:sp>
        <p:nvSpPr>
          <p:cNvPr id="5" name="Shape 3"/>
          <p:cNvSpPr/>
          <p:nvPr/>
        </p:nvSpPr>
        <p:spPr>
          <a:xfrm>
            <a:off x="9966960" y="411480"/>
            <a:ext cx="1691640" cy="457200"/>
          </a:xfrm>
          <a:prstGeom prst="roundRect">
            <a:avLst>
              <a:gd name="adj" fmla="val 50000"/>
            </a:avLst>
          </a:prstGeom>
          <a:solidFill>
            <a:srgbClr val="061B44">
              <a:alpha val="90000"/>
            </a:srgbClr>
          </a:solidFill>
          <a:ln w="19050">
            <a:solidFill>
              <a:srgbClr val="FF7A85"/>
            </a:solidFill>
            <a:prstDash val="solid"/>
          </a:ln>
          <a:effectLst>
            <a:outerShdw sx="100000" sy="100000" kx="0" ky="0" algn="bl" rotWithShape="0" blurRad="127000" dist="50800" dir="16200000">
              <a:srgbClr val="4FC8FF">
                <a:alpha val="38000"/>
              </a:srgbClr>
            </a:outerShdw>
          </a:effectLst>
        </p:spPr>
      </p:sp>
      <p:sp>
        <p:nvSpPr>
          <p:cNvPr id="6" name="Text 4"/>
          <p:cNvSpPr/>
          <p:nvPr/>
        </p:nvSpPr>
        <p:spPr>
          <a:xfrm>
            <a:off x="9966960" y="411480"/>
            <a:ext cx="1691640" cy="457200"/>
          </a:xfrm>
          <a:prstGeom prst="rect">
            <a:avLst/>
          </a:prstGeom>
          <a:noFill/>
          <a:ln/>
        </p:spPr>
        <p:txBody>
          <a:bodyPr wrap="square" lIns="0" tIns="0" rIns="0" bIns="0" rtlCol="0" anchor="ctr"/>
          <a:lstStyle/>
          <a:p>
            <a:pPr algn="ctr" indent="0" marL="0">
              <a:buNone/>
            </a:pPr>
            <a:r>
              <a:rPr lang="en-US" sz="1300" b="1" dirty="0">
                <a:solidFill>
                  <a:srgbClr val="FF7A85"/>
                </a:solidFill>
                <a:latin typeface="Arial" pitchFamily="34" charset="0"/>
                <a:ea typeface="Arial" pitchFamily="34" charset="-122"/>
                <a:cs typeface="Arial" pitchFamily="34" charset="-120"/>
              </a:rPr>
              <a:t>DENY</a:t>
            </a:r>
            <a:endParaRPr lang="en-US" sz="1300" dirty="0"/>
          </a:p>
        </p:txBody>
      </p:sp>
      <p:sp>
        <p:nvSpPr>
          <p:cNvPr id="7" name="Text 5"/>
          <p:cNvSpPr/>
          <p:nvPr/>
        </p:nvSpPr>
        <p:spPr>
          <a:xfrm>
            <a:off x="566928" y="1627632"/>
            <a:ext cx="10972800" cy="347472"/>
          </a:xfrm>
          <a:prstGeom prst="rect">
            <a:avLst/>
          </a:prstGeom>
          <a:noFill/>
          <a:ln/>
        </p:spPr>
        <p:txBody>
          <a:bodyPr wrap="square" lIns="0" tIns="0" rIns="0" bIns="0" rtlCol="0" anchor="ctr"/>
          <a:lstStyle/>
          <a:p>
            <a:pPr indent="0" marL="0">
              <a:buNone/>
            </a:pPr>
            <a:r>
              <a:rPr lang="en-US" sz="1250" b="1" dirty="0">
                <a:solidFill>
                  <a:srgbClr val="54E0A0"/>
                </a:solidFill>
                <a:latin typeface="Courier New" pitchFamily="34" charset="0"/>
                <a:ea typeface="Courier New" pitchFamily="34" charset="-122"/>
                <a:cs typeface="Courier New" pitchFamily="34" charset="-120"/>
              </a:rPr>
              <a:t>$ </a:t>
            </a:r>
            <a:pPr indent="0" marL="0">
              <a:buNone/>
            </a:pPr>
            <a:r>
              <a:rPr lang="en-US" sz="1250" dirty="0">
                <a:solidFill>
                  <a:srgbClr val="FFFFFF"/>
                </a:solidFill>
                <a:latin typeface="Courier New" pitchFamily="34" charset="0"/>
                <a:ea typeface="Courier New" pitchFamily="34" charset="-122"/>
                <a:cs typeface="Courier New" pitchFamily="34" charset="-120"/>
              </a:rPr>
              <a:t>sbx mcp add poisoned-demo --url http://localhost:7801/mcp --skip-ssrf-check</a:t>
            </a:r>
            <a:endParaRPr lang="en-US" sz="1250" dirty="0"/>
          </a:p>
        </p:txBody>
      </p:sp>
      <p:sp>
        <p:nvSpPr>
          <p:cNvPr id="8" name="Shape 6"/>
          <p:cNvSpPr/>
          <p:nvPr/>
        </p:nvSpPr>
        <p:spPr>
          <a:xfrm>
            <a:off x="978408" y="2029968"/>
            <a:ext cx="10204704" cy="2950083"/>
          </a:xfrm>
          <a:prstGeom prst="roundRect">
            <a:avLst>
              <a:gd name="adj" fmla="val 3719"/>
            </a:avLst>
          </a:prstGeom>
          <a:solidFill>
            <a:srgbClr val="061B44">
              <a:alpha val="90000"/>
            </a:srgbClr>
          </a:solidFill>
          <a:ln w="12700">
            <a:solidFill>
              <a:srgbClr val="4FA8E8"/>
            </a:solidFill>
            <a:prstDash val="solid"/>
          </a:ln>
          <a:effectLst>
            <a:outerShdw sx="100000" sy="100000" kx="0" ky="0" algn="bl" rotWithShape="0" blurRad="127000" dist="50800" dir="16200000">
              <a:srgbClr val="4FC8FF">
                <a:alpha val="38000"/>
              </a:srgbClr>
            </a:outerShdw>
          </a:effectLst>
        </p:spPr>
      </p:sp>
      <p:pic>
        <p:nvPicPr>
          <p:cNvPr id="9" name="Image 0" descr="/Users/mark.maxwelldocker.com/sandboxes/WADMCPDemo/screenshots/png/beat2-deny.png">    </p:cNvPr>
          <p:cNvPicPr>
            <a:picLocks noChangeAspect="1"/>
          </p:cNvPicPr>
          <p:nvPr/>
        </p:nvPicPr>
        <p:blipFill>
          <a:blip r:embed="rId2"/>
          <a:stretch>
            <a:fillRect/>
          </a:stretch>
        </p:blipFill>
        <p:spPr>
          <a:xfrm>
            <a:off x="1051560" y="2103120"/>
            <a:ext cx="10058400" cy="2803779"/>
          </a:xfrm>
          <a:prstGeom prst="rect">
            <a:avLst/>
          </a:prstGeom>
        </p:spPr>
      </p:pic>
      <p:sp>
        <p:nvSpPr>
          <p:cNvPr id="10" name="Text 7"/>
          <p:cNvSpPr/>
          <p:nvPr/>
        </p:nvSpPr>
        <p:spPr>
          <a:xfrm>
            <a:off x="777240" y="5181219"/>
            <a:ext cx="9509760" cy="1128141"/>
          </a:xfrm>
          <a:prstGeom prst="rect">
            <a:avLst/>
          </a:prstGeom>
          <a:noFill/>
          <a:ln/>
        </p:spPr>
        <p:txBody>
          <a:bodyPr wrap="square" lIns="0" tIns="0" rIns="0" bIns="0" rtlCol="0" anchor="t"/>
          <a:lstStyle/>
          <a:p>
            <a:pPr marL="177800" indent="-177800">
              <a:buSzPct val="100000"/>
              <a:buChar char="•"/>
            </a:pPr>
            <a:r>
              <a:rPr lang="en-US" sz="1250" b="1" dirty="0">
                <a:solidFill>
                  <a:srgbClr val="FFFFFF"/>
                </a:solidFill>
                <a:latin typeface="Arial" pitchFamily="34" charset="0"/>
                <a:ea typeface="Arial" pitchFamily="34" charset="-122"/>
                <a:cs typeface="Arial" pitchFamily="34" charset="-120"/>
              </a:rPr>
              <a:t>Watch the last line.</a:t>
            </a:r>
            <a:pPr indent="0" marL="0">
              <a:spcAft>
                <a:spcPts val="500"/>
              </a:spcAft>
              <a:buNone/>
            </a:pPr>
            <a:r>
              <a:rPr lang="en-US" sz="1250" dirty="0">
                <a:solidFill>
                  <a:srgbClr val="D6E6FB"/>
                </a:solidFill>
                <a:latin typeface="Arial" pitchFamily="34" charset="0"/>
                <a:ea typeface="Arial" pitchFamily="34" charset="-122"/>
                <a:cs typeface="Arial" pitchFamily="34" charset="-120"/>
              </a:rPr>
              <a:t>  registration denied for MCP server poisoned-demo: blocked by policy. Say that before the room reads the INFO noise.</a:t>
            </a:r>
            <a:endParaRPr lang="en-US" sz="1250" dirty="0"/>
          </a:p>
          <a:p>
            <a:pPr marL="177800" indent="-177800">
              <a:buSzPct val="100000"/>
              <a:buChar char="•"/>
            </a:pPr>
            <a:r>
              <a:rPr lang="en-US" sz="1250" b="1" dirty="0">
                <a:solidFill>
                  <a:srgbClr val="FFFFFF"/>
                </a:solidFill>
                <a:latin typeface="Arial" pitchFamily="34" charset="0"/>
                <a:ea typeface="Arial" pitchFamily="34" charset="-122"/>
                <a:cs typeface="Arial" pitchFamily="34" charset="-120"/>
              </a:rPr>
              <a:t>Not malicious content detected.</a:t>
            </a:r>
            <a:pPr indent="0" marL="0">
              <a:spcAft>
                <a:spcPts val="500"/>
              </a:spcAft>
              <a:buNone/>
            </a:pPr>
            <a:r>
              <a:rPr lang="en-US" sz="1250" dirty="0">
                <a:solidFill>
                  <a:srgbClr val="D6E6FB"/>
                </a:solidFill>
                <a:latin typeface="Arial" pitchFamily="34" charset="0"/>
                <a:ea typeface="Arial" pitchFamily="34" charset="-122"/>
                <a:cs typeface="Arial" pitchFamily="34" charset="-120"/>
              </a:rPr>
              <a:t>  The gateway never scanned the poison. It refused an unknown identity at registration. That is the stronger guarantee.</a:t>
            </a:r>
            <a:endParaRPr lang="en-US" sz="1250" dirty="0"/>
          </a:p>
          <a:p>
            <a:pPr marL="177800" indent="-177800">
              <a:buSzPct val="100000"/>
              <a:buChar char="•"/>
            </a:pPr>
            <a:r>
              <a:rPr lang="en-US" sz="1250" b="1" dirty="0">
                <a:solidFill>
                  <a:srgbClr val="FFFFFF"/>
                </a:solidFill>
                <a:latin typeface="Arial" pitchFamily="34" charset="0"/>
                <a:ea typeface="Arial" pitchFamily="34" charset="-122"/>
                <a:cs typeface="Arial" pitchFamily="34" charset="-120"/>
              </a:rPr>
              <a:t>About --skip-ssrf-check.</a:t>
            </a:r>
            <a:pPr indent="0" marL="0">
              <a:spcAft>
                <a:spcPts val="500"/>
              </a:spcAft>
              <a:buNone/>
            </a:pPr>
            <a:r>
              <a:rPr lang="en-US" sz="1250" dirty="0">
                <a:solidFill>
                  <a:srgbClr val="D6E6FB"/>
                </a:solidFill>
                <a:latin typeface="Arial" pitchFamily="34" charset="0"/>
                <a:ea typeface="Arial" pitchFamily="34" charset="-122"/>
                <a:cs typeface="Arial" pitchFamily="34" charset="-120"/>
              </a:rPr>
              <a:t>  It silences the loopback-address warning for a URL we control. It does not bypass MCP policy; the deny happened with it on.</a:t>
            </a:r>
            <a:endParaRPr lang="en-US" sz="1250" dirty="0"/>
          </a:p>
        </p:txBody>
      </p:sp>
      <p:pic>
        <p:nvPicPr>
          <p:cNvPr id="11" name="Image 1" descr="/Users/mark.maxwelldocker.com/sandboxes/WADMCPDemo/slides/deck-src/assets/docker_logo.png">    </p:cNvPr>
          <p:cNvPicPr>
            <a:picLocks noChangeAspect="1"/>
          </p:cNvPicPr>
          <p:nvPr/>
        </p:nvPicPr>
        <p:blipFill>
          <a:blip r:embed="rId3"/>
          <a:stretch>
            <a:fillRect/>
          </a:stretch>
        </p:blipFill>
        <p:spPr>
          <a:xfrm>
            <a:off x="10378440" y="6382512"/>
            <a:ext cx="1371600" cy="31089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66928" y="384048"/>
            <a:ext cx="7315200" cy="256032"/>
          </a:xfrm>
          <a:prstGeom prst="rect">
            <a:avLst/>
          </a:prstGeom>
          <a:noFill/>
          <a:ln/>
        </p:spPr>
        <p:txBody>
          <a:bodyPr wrap="square" lIns="0" tIns="0" rIns="0" bIns="0" rtlCol="0" anchor="ctr"/>
          <a:lstStyle/>
          <a:p>
            <a:pPr indent="0" marL="0">
              <a:buNone/>
            </a:pPr>
            <a:r>
              <a:rPr lang="en-US" sz="1250" b="1" spc="150" kern="0" dirty="0">
                <a:solidFill>
                  <a:srgbClr val="5FC8FF"/>
                </a:solidFill>
                <a:latin typeface="Arial" pitchFamily="34" charset="0"/>
                <a:ea typeface="Arial" pitchFamily="34" charset="-122"/>
                <a:cs typeface="Arial" pitchFamily="34" charset="-120"/>
              </a:rPr>
              <a:t>BEAT 2b · THE RUG-PULL DEFENSE · ~30 SECONDS</a:t>
            </a:r>
            <a:endParaRPr lang="en-US" sz="1250" dirty="0"/>
          </a:p>
        </p:txBody>
      </p:sp>
      <p:sp>
        <p:nvSpPr>
          <p:cNvPr id="3" name="Text 1"/>
          <p:cNvSpPr/>
          <p:nvPr/>
        </p:nvSpPr>
        <p:spPr>
          <a:xfrm>
            <a:off x="548640" y="621792"/>
            <a:ext cx="11064240" cy="640080"/>
          </a:xfrm>
          <a:prstGeom prst="rect">
            <a:avLst/>
          </a:prstGeom>
          <a:noFill/>
          <a:ln/>
        </p:spPr>
        <p:txBody>
          <a:bodyPr wrap="square" lIns="0" tIns="0" rIns="0" bIns="0" rtlCol="0" anchor="ctr"/>
          <a:lstStyle/>
          <a:p>
            <a:pPr indent="0" marL="0">
              <a:buNone/>
            </a:pPr>
            <a:r>
              <a:rPr lang="en-US" sz="2700" b="1" dirty="0">
                <a:solidFill>
                  <a:srgbClr val="FFFFFF"/>
                </a:solidFill>
                <a:latin typeface="Arial" pitchFamily="34" charset="0"/>
                <a:ea typeface="Arial" pitchFamily="34" charset="-122"/>
                <a:cs typeface="Arial" pitchFamily="34" charset="-120"/>
              </a:rPr>
              <a:t>Approved name, wrong endpoint. </a:t>
            </a:r>
            <a:pPr indent="0" marL="0">
              <a:buNone/>
            </a:pPr>
            <a:r>
              <a:rPr lang="en-US" sz="2700" b="1" dirty="0">
                <a:solidFill>
                  <a:srgbClr val="5FC8FF"/>
                </a:solidFill>
                <a:latin typeface="Arial" pitchFamily="34" charset="0"/>
                <a:ea typeface="Arial" pitchFamily="34" charset="-122"/>
                <a:cs typeface="Arial" pitchFamily="34" charset="-120"/>
              </a:rPr>
              <a:t>Still denied.</a:t>
            </a:r>
            <a:endParaRPr lang="en-US" sz="2700" dirty="0"/>
          </a:p>
        </p:txBody>
      </p:sp>
      <p:sp>
        <p:nvSpPr>
          <p:cNvPr id="4" name="Shape 2"/>
          <p:cNvSpPr/>
          <p:nvPr/>
        </p:nvSpPr>
        <p:spPr>
          <a:xfrm>
            <a:off x="8229600" y="411480"/>
            <a:ext cx="1691640" cy="457200"/>
          </a:xfrm>
          <a:prstGeom prst="roundRect">
            <a:avLst>
              <a:gd name="adj" fmla="val 50000"/>
            </a:avLst>
          </a:prstGeom>
          <a:solidFill>
            <a:srgbClr val="061B44">
              <a:alpha val="90000"/>
            </a:srgbClr>
          </a:solidFill>
          <a:ln w="19050">
            <a:solidFill>
              <a:srgbClr val="FF7A85"/>
            </a:solidFill>
            <a:prstDash val="solid"/>
          </a:ln>
          <a:effectLst>
            <a:outerShdw sx="100000" sy="100000" kx="0" ky="0" algn="bl" rotWithShape="0" blurRad="127000" dist="50800" dir="16200000">
              <a:srgbClr val="4FC8FF">
                <a:alpha val="38000"/>
              </a:srgbClr>
            </a:outerShdw>
          </a:effectLst>
        </p:spPr>
      </p:sp>
      <p:sp>
        <p:nvSpPr>
          <p:cNvPr id="5" name="Text 3"/>
          <p:cNvSpPr/>
          <p:nvPr/>
        </p:nvSpPr>
        <p:spPr>
          <a:xfrm>
            <a:off x="8229600" y="411480"/>
            <a:ext cx="1691640" cy="457200"/>
          </a:xfrm>
          <a:prstGeom prst="rect">
            <a:avLst/>
          </a:prstGeom>
          <a:noFill/>
          <a:ln/>
        </p:spPr>
        <p:txBody>
          <a:bodyPr wrap="square" lIns="0" tIns="0" rIns="0" bIns="0" rtlCol="0" anchor="ctr"/>
          <a:lstStyle/>
          <a:p>
            <a:pPr algn="ctr" indent="0" marL="0">
              <a:buNone/>
            </a:pPr>
            <a:r>
              <a:rPr lang="en-US" sz="1300" b="1" dirty="0">
                <a:solidFill>
                  <a:srgbClr val="FF7A85"/>
                </a:solidFill>
                <a:latin typeface="Arial" pitchFamily="34" charset="0"/>
                <a:ea typeface="Arial" pitchFamily="34" charset="-122"/>
                <a:cs typeface="Arial" pitchFamily="34" charset="-120"/>
              </a:rPr>
              <a:t>DENY</a:t>
            </a:r>
            <a:endParaRPr lang="en-US" sz="1300" dirty="0"/>
          </a:p>
        </p:txBody>
      </p:sp>
      <p:sp>
        <p:nvSpPr>
          <p:cNvPr id="6" name="Shape 4"/>
          <p:cNvSpPr/>
          <p:nvPr/>
        </p:nvSpPr>
        <p:spPr>
          <a:xfrm>
            <a:off x="9966960" y="411480"/>
            <a:ext cx="1691640" cy="457200"/>
          </a:xfrm>
          <a:prstGeom prst="roundRect">
            <a:avLst>
              <a:gd name="adj" fmla="val 50000"/>
            </a:avLst>
          </a:prstGeom>
          <a:solidFill>
            <a:srgbClr val="061B44">
              <a:alpha val="90000"/>
            </a:srgbClr>
          </a:solidFill>
          <a:ln w="19050">
            <a:solidFill>
              <a:srgbClr val="54E0A0"/>
            </a:solidFill>
            <a:prstDash val="solid"/>
          </a:ln>
          <a:effectLst>
            <a:outerShdw sx="100000" sy="100000" kx="0" ky="0" algn="bl" rotWithShape="0" blurRad="127000" dist="50800" dir="16200000">
              <a:srgbClr val="4FC8FF">
                <a:alpha val="38000"/>
              </a:srgbClr>
            </a:outerShdw>
          </a:effectLst>
        </p:spPr>
      </p:sp>
      <p:sp>
        <p:nvSpPr>
          <p:cNvPr id="7" name="Text 5"/>
          <p:cNvSpPr/>
          <p:nvPr/>
        </p:nvSpPr>
        <p:spPr>
          <a:xfrm>
            <a:off x="9966960" y="411480"/>
            <a:ext cx="1691640" cy="457200"/>
          </a:xfrm>
          <a:prstGeom prst="rect">
            <a:avLst/>
          </a:prstGeom>
          <a:noFill/>
          <a:ln/>
        </p:spPr>
        <p:txBody>
          <a:bodyPr wrap="square" lIns="0" tIns="0" rIns="0" bIns="0" rtlCol="0" anchor="ctr"/>
          <a:lstStyle/>
          <a:p>
            <a:pPr algn="ctr" indent="0" marL="0">
              <a:buNone/>
            </a:pPr>
            <a:r>
              <a:rPr lang="en-US" sz="1300" b="1" dirty="0">
                <a:solidFill>
                  <a:srgbClr val="54E0A0"/>
                </a:solidFill>
                <a:latin typeface="Arial" pitchFamily="34" charset="0"/>
                <a:ea typeface="Arial" pitchFamily="34" charset="-122"/>
                <a:cs typeface="Arial" pitchFamily="34" charset="-120"/>
              </a:rPr>
              <a:t>ALLOW</a:t>
            </a:r>
            <a:endParaRPr lang="en-US" sz="1300" dirty="0"/>
          </a:p>
        </p:txBody>
      </p:sp>
      <p:sp>
        <p:nvSpPr>
          <p:cNvPr id="8" name="Text 6"/>
          <p:cNvSpPr/>
          <p:nvPr/>
        </p:nvSpPr>
        <p:spPr>
          <a:xfrm>
            <a:off x="621792" y="1325880"/>
            <a:ext cx="5212080" cy="256032"/>
          </a:xfrm>
          <a:prstGeom prst="rect">
            <a:avLst/>
          </a:prstGeom>
          <a:noFill/>
          <a:ln/>
        </p:spPr>
        <p:txBody>
          <a:bodyPr wrap="square" lIns="0" tIns="0" rIns="0" bIns="0" rtlCol="0" anchor="ctr"/>
          <a:lstStyle/>
          <a:p>
            <a:pPr indent="0" marL="0">
              <a:buNone/>
            </a:pPr>
            <a:r>
              <a:rPr lang="en-US" sz="1050" b="1" spc="150" kern="0" dirty="0">
                <a:solidFill>
                  <a:srgbClr val="5FC8FF"/>
                </a:solidFill>
                <a:latin typeface="Arial" pitchFamily="34" charset="0"/>
                <a:ea typeface="Arial" pitchFamily="34" charset="-122"/>
                <a:cs typeface="Arial" pitchFamily="34" charset="-120"/>
              </a:rPr>
              <a:t>1  evaluate the add fresh</a:t>
            </a:r>
            <a:endParaRPr lang="en-US" sz="1050" dirty="0"/>
          </a:p>
        </p:txBody>
      </p:sp>
      <p:sp>
        <p:nvSpPr>
          <p:cNvPr id="9" name="Shape 7"/>
          <p:cNvSpPr/>
          <p:nvPr/>
        </p:nvSpPr>
        <p:spPr>
          <a:xfrm>
            <a:off x="548640" y="1527048"/>
            <a:ext cx="5358384" cy="823874"/>
          </a:xfrm>
          <a:prstGeom prst="roundRect">
            <a:avLst>
              <a:gd name="adj" fmla="val 13319"/>
            </a:avLst>
          </a:prstGeom>
          <a:solidFill>
            <a:srgbClr val="061B44">
              <a:alpha val="90000"/>
            </a:srgbClr>
          </a:solidFill>
          <a:ln w="12700">
            <a:solidFill>
              <a:srgbClr val="4FA8E8"/>
            </a:solidFill>
            <a:prstDash val="solid"/>
          </a:ln>
          <a:effectLst>
            <a:outerShdw sx="100000" sy="100000" kx="0" ky="0" algn="bl" rotWithShape="0" blurRad="127000" dist="50800" dir="16200000">
              <a:srgbClr val="4FC8FF">
                <a:alpha val="38000"/>
              </a:srgbClr>
            </a:outerShdw>
          </a:effectLst>
        </p:spPr>
      </p:sp>
      <p:pic>
        <p:nvPicPr>
          <p:cNvPr id="10" name="Image 0" descr="/Users/mark.maxwelldocker.com/sandboxes/WADMCPDemo/screenshots/png/beat2b-rm.png">    </p:cNvPr>
          <p:cNvPicPr>
            <a:picLocks noChangeAspect="1"/>
          </p:cNvPicPr>
          <p:nvPr/>
        </p:nvPicPr>
        <p:blipFill>
          <a:blip r:embed="rId2"/>
          <a:stretch>
            <a:fillRect/>
          </a:stretch>
        </p:blipFill>
        <p:spPr>
          <a:xfrm>
            <a:off x="621792" y="1600200"/>
            <a:ext cx="5212080" cy="677570"/>
          </a:xfrm>
          <a:prstGeom prst="rect">
            <a:avLst/>
          </a:prstGeom>
        </p:spPr>
      </p:pic>
      <p:sp>
        <p:nvSpPr>
          <p:cNvPr id="11" name="Text 8"/>
          <p:cNvSpPr/>
          <p:nvPr/>
        </p:nvSpPr>
        <p:spPr>
          <a:xfrm>
            <a:off x="621792" y="2497226"/>
            <a:ext cx="5212080" cy="256032"/>
          </a:xfrm>
          <a:prstGeom prst="rect">
            <a:avLst/>
          </a:prstGeom>
          <a:noFill/>
          <a:ln/>
        </p:spPr>
        <p:txBody>
          <a:bodyPr wrap="square" lIns="0" tIns="0" rIns="0" bIns="0" rtlCol="0" anchor="ctr"/>
          <a:lstStyle/>
          <a:p>
            <a:pPr indent="0" marL="0">
              <a:buNone/>
            </a:pPr>
            <a:r>
              <a:rPr lang="en-US" sz="1050" b="1" spc="150" kern="0" dirty="0">
                <a:solidFill>
                  <a:srgbClr val="FF7A85"/>
                </a:solidFill>
                <a:latin typeface="Arial" pitchFamily="34" charset="0"/>
                <a:ea typeface="Arial" pitchFamily="34" charset="-122"/>
                <a:cs typeface="Arial" pitchFamily="34" charset="-120"/>
              </a:rPr>
              <a:t>2  approved name at :7801  →  DENIED</a:t>
            </a:r>
            <a:endParaRPr lang="en-US" sz="1050" dirty="0"/>
          </a:p>
        </p:txBody>
      </p:sp>
      <p:sp>
        <p:nvSpPr>
          <p:cNvPr id="12" name="Shape 9"/>
          <p:cNvSpPr/>
          <p:nvPr/>
        </p:nvSpPr>
        <p:spPr>
          <a:xfrm>
            <a:off x="548640" y="2698394"/>
            <a:ext cx="5358384" cy="1599171"/>
          </a:xfrm>
          <a:prstGeom prst="roundRect">
            <a:avLst>
              <a:gd name="adj" fmla="val 6862"/>
            </a:avLst>
          </a:prstGeom>
          <a:solidFill>
            <a:srgbClr val="061B44">
              <a:alpha val="90000"/>
            </a:srgbClr>
          </a:solidFill>
          <a:ln w="12700">
            <a:solidFill>
              <a:srgbClr val="4FA8E8"/>
            </a:solidFill>
            <a:prstDash val="solid"/>
          </a:ln>
          <a:effectLst>
            <a:outerShdw sx="100000" sy="100000" kx="0" ky="0" algn="bl" rotWithShape="0" blurRad="127000" dist="50800" dir="16200000">
              <a:srgbClr val="4FC8FF">
                <a:alpha val="38000"/>
              </a:srgbClr>
            </a:outerShdw>
          </a:effectLst>
        </p:spPr>
      </p:sp>
      <p:pic>
        <p:nvPicPr>
          <p:cNvPr id="13" name="Image 1" descr="/Users/mark.maxwelldocker.com/sandboxes/WADMCPDemo/screenshots/png/beat2b-swap-deny.png">    </p:cNvPr>
          <p:cNvPicPr>
            <a:picLocks noChangeAspect="1"/>
          </p:cNvPicPr>
          <p:nvPr/>
        </p:nvPicPr>
        <p:blipFill>
          <a:blip r:embed="rId3"/>
          <a:stretch>
            <a:fillRect/>
          </a:stretch>
        </p:blipFill>
        <p:spPr>
          <a:xfrm>
            <a:off x="621792" y="2771546"/>
            <a:ext cx="5212080" cy="1452867"/>
          </a:xfrm>
          <a:prstGeom prst="rect">
            <a:avLst/>
          </a:prstGeom>
        </p:spPr>
      </p:pic>
      <p:sp>
        <p:nvSpPr>
          <p:cNvPr id="14" name="Text 10"/>
          <p:cNvSpPr/>
          <p:nvPr/>
        </p:nvSpPr>
        <p:spPr>
          <a:xfrm>
            <a:off x="621792" y="4443870"/>
            <a:ext cx="5212080" cy="256032"/>
          </a:xfrm>
          <a:prstGeom prst="rect">
            <a:avLst/>
          </a:prstGeom>
          <a:noFill/>
          <a:ln/>
        </p:spPr>
        <p:txBody>
          <a:bodyPr wrap="square" lIns="0" tIns="0" rIns="0" bIns="0" rtlCol="0" anchor="ctr"/>
          <a:lstStyle/>
          <a:p>
            <a:pPr indent="0" marL="0">
              <a:buNone/>
            </a:pPr>
            <a:r>
              <a:rPr lang="en-US" sz="1050" b="1" spc="150" kern="0" dirty="0">
                <a:solidFill>
                  <a:srgbClr val="54E0A0"/>
                </a:solidFill>
                <a:latin typeface="Arial" pitchFamily="34" charset="0"/>
                <a:ea typeface="Arial" pitchFamily="34" charset="-122"/>
                <a:cs typeface="Arial" pitchFamily="34" charset="-120"/>
              </a:rPr>
              <a:t>3  approved name at :7802  →  ALLOW (restores the demo)</a:t>
            </a:r>
            <a:endParaRPr lang="en-US" sz="1050" dirty="0"/>
          </a:p>
        </p:txBody>
      </p:sp>
      <p:sp>
        <p:nvSpPr>
          <p:cNvPr id="15" name="Shape 11"/>
          <p:cNvSpPr/>
          <p:nvPr/>
        </p:nvSpPr>
        <p:spPr>
          <a:xfrm>
            <a:off x="548640" y="4645038"/>
            <a:ext cx="5358384" cy="1599171"/>
          </a:xfrm>
          <a:prstGeom prst="roundRect">
            <a:avLst>
              <a:gd name="adj" fmla="val 6862"/>
            </a:avLst>
          </a:prstGeom>
          <a:solidFill>
            <a:srgbClr val="061B44">
              <a:alpha val="90000"/>
            </a:srgbClr>
          </a:solidFill>
          <a:ln w="12700">
            <a:solidFill>
              <a:srgbClr val="4FA8E8"/>
            </a:solidFill>
            <a:prstDash val="solid"/>
          </a:ln>
          <a:effectLst>
            <a:outerShdw sx="100000" sy="100000" kx="0" ky="0" algn="bl" rotWithShape="0" blurRad="127000" dist="50800" dir="16200000">
              <a:srgbClr val="4FC8FF">
                <a:alpha val="38000"/>
              </a:srgbClr>
            </a:outerShdw>
          </a:effectLst>
        </p:spPr>
      </p:sp>
      <p:pic>
        <p:nvPicPr>
          <p:cNvPr id="16" name="Image 2" descr="/Users/mark.maxwelldocker.com/sandboxes/WADMCPDemo/screenshots/png/beat2b-restore-allow.png">    </p:cNvPr>
          <p:cNvPicPr>
            <a:picLocks noChangeAspect="1"/>
          </p:cNvPicPr>
          <p:nvPr/>
        </p:nvPicPr>
        <p:blipFill>
          <a:blip r:embed="rId4"/>
          <a:stretch>
            <a:fillRect/>
          </a:stretch>
        </p:blipFill>
        <p:spPr>
          <a:xfrm>
            <a:off x="621792" y="4718190"/>
            <a:ext cx="5212080" cy="1452867"/>
          </a:xfrm>
          <a:prstGeom prst="rect">
            <a:avLst/>
          </a:prstGeom>
        </p:spPr>
      </p:pic>
      <p:sp>
        <p:nvSpPr>
          <p:cNvPr id="17" name="Text 12"/>
          <p:cNvSpPr/>
          <p:nvPr/>
        </p:nvSpPr>
        <p:spPr>
          <a:xfrm>
            <a:off x="6355080" y="1325880"/>
            <a:ext cx="5303520" cy="256032"/>
          </a:xfrm>
          <a:prstGeom prst="rect">
            <a:avLst/>
          </a:prstGeom>
          <a:noFill/>
          <a:ln/>
        </p:spPr>
        <p:txBody>
          <a:bodyPr wrap="square" lIns="0" tIns="0" rIns="0" bIns="0" rtlCol="0" anchor="ctr"/>
          <a:lstStyle/>
          <a:p>
            <a:pPr indent="0" marL="0">
              <a:buNone/>
            </a:pPr>
            <a:r>
              <a:rPr lang="en-US" sz="1200" b="1" spc="150" kern="0" dirty="0">
                <a:solidFill>
                  <a:srgbClr val="5FC8FF"/>
                </a:solidFill>
                <a:latin typeface="Arial" pitchFamily="34" charset="0"/>
                <a:ea typeface="Arial" pitchFamily="34" charset="-122"/>
                <a:cs typeface="Arial" pitchFamily="34" charset="-120"/>
              </a:rPr>
              <a:t>WHAT IS HAPPENING</a:t>
            </a:r>
            <a:endParaRPr lang="en-US" sz="1200" dirty="0"/>
          </a:p>
        </p:txBody>
      </p:sp>
      <p:sp>
        <p:nvSpPr>
          <p:cNvPr id="18" name="Text 13"/>
          <p:cNvSpPr/>
          <p:nvPr/>
        </p:nvSpPr>
        <p:spPr>
          <a:xfrm>
            <a:off x="6355080" y="1691640"/>
            <a:ext cx="5303520" cy="3291840"/>
          </a:xfrm>
          <a:prstGeom prst="rect">
            <a:avLst/>
          </a:prstGeom>
          <a:noFill/>
          <a:ln/>
        </p:spPr>
        <p:txBody>
          <a:bodyPr wrap="square" lIns="0" tIns="0" rIns="0" bIns="0" rtlCol="0" anchor="t"/>
          <a:lstStyle/>
          <a:p>
            <a:pPr marL="177800" indent="-177800">
              <a:buSzPct val="100000"/>
              <a:buChar char="•"/>
            </a:pPr>
            <a:r>
              <a:rPr lang="en-US" sz="1200" b="1" dirty="0">
                <a:solidFill>
                  <a:srgbClr val="FFFFFF"/>
                </a:solidFill>
                <a:latin typeface="Arial" pitchFamily="34" charset="0"/>
                <a:ea typeface="Arial" pitchFamily="34" charset="-122"/>
                <a:cs typeface="Arial" pitchFamily="34" charset="-120"/>
              </a:rPr>
              <a:t>The permit is identity-pinned.</a:t>
            </a:r>
            <a:pPr indent="0" marL="0">
              <a:spcAft>
                <a:spcPts val="600"/>
              </a:spcAft>
              <a:buNone/>
            </a:pPr>
            <a:r>
              <a:rPr lang="en-US" sz="1200" dirty="0">
                <a:solidFill>
                  <a:srgbClr val="D6E6FB"/>
                </a:solidFill>
                <a:latin typeface="Arial" pitchFamily="34" charset="0"/>
                <a:ea typeface="Arial" pitchFamily="34" charset="-122"/>
                <a:cs typeface="Arial" pitchFamily="34" charset="-120"/>
              </a:rPr>
              <a:t> Name plus identityURL, not name only. The approved name pointed at :7801 matches no permit.</a:t>
            </a:r>
            <a:endParaRPr lang="en-US" sz="1200" dirty="0"/>
          </a:p>
          <a:p>
            <a:pPr marL="177800" indent="-177800">
              <a:buSzPct val="100000"/>
              <a:buChar char="•"/>
            </a:pPr>
            <a:r>
              <a:rPr lang="en-US" sz="1200" b="1" dirty="0">
                <a:solidFill>
                  <a:srgbClr val="FFFFFF"/>
                </a:solidFill>
                <a:latin typeface="Arial" pitchFamily="34" charset="0"/>
                <a:ea typeface="Arial" pitchFamily="34" charset="-122"/>
                <a:cs typeface="Arial" pitchFamily="34" charset="-120"/>
              </a:rPr>
              <a:t>no registration policy rule permits this server.</a:t>
            </a:r>
            <a:pPr indent="0" marL="0">
              <a:spcAft>
                <a:spcPts val="600"/>
              </a:spcAft>
              <a:buNone/>
            </a:pPr>
            <a:r>
              <a:rPr lang="en-US" sz="1200" dirty="0">
                <a:solidFill>
                  <a:srgbClr val="D6E6FB"/>
                </a:solidFill>
                <a:latin typeface="Arial" pitchFamily="34" charset="0"/>
                <a:ea typeface="Arial" pitchFamily="34" charset="-122"/>
                <a:cs typeface="Arial" pitchFamily="34" charset="-120"/>
              </a:rPr>
              <a:t> That is default-deny doing its job on the middle command.</a:t>
            </a:r>
            <a:endParaRPr lang="en-US" sz="1200" dirty="0"/>
          </a:p>
          <a:p>
            <a:pPr marL="177800" indent="-177800">
              <a:buSzPct val="100000"/>
              <a:buChar char="•"/>
            </a:pPr>
            <a:r>
              <a:rPr lang="en-US" sz="1200" b="1" dirty="0">
                <a:solidFill>
                  <a:srgbClr val="FFFFFF"/>
                </a:solidFill>
                <a:latin typeface="Arial" pitchFamily="34" charset="0"/>
                <a:ea typeface="Arial" pitchFamily="34" charset="-122"/>
                <a:cs typeface="Arial" pitchFamily="34" charset="-120"/>
              </a:rPr>
              <a:t>You cannot squat the approved name</a:t>
            </a:r>
            <a:pPr indent="0" marL="0">
              <a:spcAft>
                <a:spcPts val="600"/>
              </a:spcAft>
              <a:buNone/>
            </a:pPr>
            <a:r>
              <a:rPr lang="en-US" sz="1200" dirty="0">
                <a:solidFill>
                  <a:srgbClr val="D6E6FB"/>
                </a:solidFill>
                <a:latin typeface="Arial" pitchFamily="34" charset="0"/>
                <a:ea typeface="Arial" pitchFamily="34" charset="-122"/>
                <a:cs typeface="Arial" pitchFamily="34" charset="-120"/>
              </a:rPr>
              <a:t> and swap the server underneath it. That is the rug-pull class, closed.</a:t>
            </a:r>
            <a:endParaRPr lang="en-US" sz="1200" dirty="0"/>
          </a:p>
          <a:p>
            <a:pPr marL="177800" indent="-177800">
              <a:buSzPct val="100000"/>
              <a:buChar char="•"/>
            </a:pPr>
            <a:r>
              <a:rPr lang="en-US" sz="1200" b="1" dirty="0">
                <a:solidFill>
                  <a:srgbClr val="FFFFFF"/>
                </a:solidFill>
                <a:latin typeface="Arial" pitchFamily="34" charset="0"/>
                <a:ea typeface="Arial" pitchFamily="34" charset="-122"/>
                <a:cs typeface="Arial" pitchFamily="34" charset="-120"/>
              </a:rPr>
              <a:t>Step 3 restores the real server</a:t>
            </a:r>
            <a:pPr indent="0" marL="0">
              <a:spcAft>
                <a:spcPts val="600"/>
              </a:spcAft>
              <a:buNone/>
            </a:pPr>
            <a:r>
              <a:rPr lang="en-US" sz="1200" dirty="0">
                <a:solidFill>
                  <a:srgbClr val="D6E6FB"/>
                </a:solidFill>
                <a:latin typeface="Arial" pitchFamily="34" charset="0"/>
                <a:ea typeface="Arial" pitchFamily="34" charset="-122"/>
                <a:cs typeface="Arial" pitchFamily="34" charset="-120"/>
              </a:rPr>
              <a:t> at :7802 and the add is allowed, so the demo continues.</a:t>
            </a:r>
            <a:endParaRPr lang="en-US" sz="1200" dirty="0"/>
          </a:p>
        </p:txBody>
      </p:sp>
      <p:sp>
        <p:nvSpPr>
          <p:cNvPr id="19" name="Shape 14"/>
          <p:cNvSpPr/>
          <p:nvPr/>
        </p:nvSpPr>
        <p:spPr>
          <a:xfrm>
            <a:off x="6355080" y="5074920"/>
            <a:ext cx="5303520" cy="1005840"/>
          </a:xfrm>
          <a:prstGeom prst="roundRect">
            <a:avLst>
              <a:gd name="adj" fmla="val 9091"/>
            </a:avLst>
          </a:prstGeom>
          <a:solidFill>
            <a:srgbClr val="0A1C44">
              <a:alpha val="70000"/>
            </a:srgbClr>
          </a:solidFill>
          <a:ln w="15875">
            <a:solidFill>
              <a:srgbClr val="54E0A0"/>
            </a:solidFill>
            <a:prstDash val="solid"/>
          </a:ln>
          <a:effectLst>
            <a:outerShdw sx="100000" sy="100000" kx="0" ky="0" algn="bl" rotWithShape="0" blurRad="127000" dist="50800" dir="16200000">
              <a:srgbClr val="4FC8FF">
                <a:alpha val="38000"/>
              </a:srgbClr>
            </a:outerShdw>
          </a:effectLst>
        </p:spPr>
      </p:sp>
      <p:sp>
        <p:nvSpPr>
          <p:cNvPr id="20" name="Text 15"/>
          <p:cNvSpPr/>
          <p:nvPr/>
        </p:nvSpPr>
        <p:spPr>
          <a:xfrm>
            <a:off x="6583680" y="5074920"/>
            <a:ext cx="4846320" cy="1005840"/>
          </a:xfrm>
          <a:prstGeom prst="rect">
            <a:avLst/>
          </a:prstGeom>
          <a:noFill/>
          <a:ln/>
        </p:spPr>
        <p:txBody>
          <a:bodyPr wrap="square" lIns="0" tIns="0" rIns="0" bIns="0" rtlCol="0" anchor="ctr"/>
          <a:lstStyle/>
          <a:p>
            <a:pPr indent="0" marL="0">
              <a:buNone/>
            </a:pPr>
            <a:r>
              <a:rPr lang="en-US" sz="1100" b="1" dirty="0">
                <a:solidFill>
                  <a:srgbClr val="54E0A0"/>
                </a:solidFill>
                <a:latin typeface="Arial" pitchFamily="34" charset="0"/>
                <a:ea typeface="Arial" pitchFamily="34" charset="-122"/>
                <a:cs typeface="Arial" pitchFamily="34" charset="-120"/>
              </a:rPr>
              <a:t>Why step 1 matters  </a:t>
            </a:r>
            <a:pPr indent="0" marL="0">
              <a:buNone/>
            </a:pPr>
            <a:r>
              <a:rPr lang="en-US" sz="1100" dirty="0">
                <a:solidFill>
                  <a:srgbClr val="FFFFFF"/>
                </a:solidFill>
                <a:latin typeface="Arial" pitchFamily="34" charset="0"/>
                <a:ea typeface="Arial" pitchFamily="34" charset="-122"/>
                <a:cs typeface="Arial" pitchFamily="34" charset="-120"/>
              </a:rPr>
              <a:t>setup.sh already registered the name. Without the rm, the add can fail as a duplicate instead of a policy deny, which kills the punchline.</a:t>
            </a:r>
            <a:endParaRPr lang="en-US" sz="1100" dirty="0"/>
          </a:p>
        </p:txBody>
      </p:sp>
      <p:pic>
        <p:nvPicPr>
          <p:cNvPr id="21" name="Image 3" descr="/Users/mark.maxwelldocker.com/sandboxes/WADMCPDemo/slides/deck-src/assets/docker_logo.png">    </p:cNvPr>
          <p:cNvPicPr>
            <a:picLocks noChangeAspect="1"/>
          </p:cNvPicPr>
          <p:nvPr/>
        </p:nvPicPr>
        <p:blipFill>
          <a:blip r:embed="rId5"/>
          <a:stretch>
            <a:fillRect/>
          </a:stretch>
        </p:blipFill>
        <p:spPr>
          <a:xfrm>
            <a:off x="10378440" y="6382512"/>
            <a:ext cx="1371600" cy="31089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66928" y="384048"/>
            <a:ext cx="7315200" cy="256032"/>
          </a:xfrm>
          <a:prstGeom prst="rect">
            <a:avLst/>
          </a:prstGeom>
          <a:noFill/>
          <a:ln/>
        </p:spPr>
        <p:txBody>
          <a:bodyPr wrap="square" lIns="0" tIns="0" rIns="0" bIns="0" rtlCol="0" anchor="ctr"/>
          <a:lstStyle/>
          <a:p>
            <a:pPr indent="0" marL="0">
              <a:buNone/>
            </a:pPr>
            <a:r>
              <a:rPr lang="en-US" sz="1250" b="1" spc="150" kern="0" dirty="0">
                <a:solidFill>
                  <a:srgbClr val="5FC8FF"/>
                </a:solidFill>
                <a:latin typeface="Arial" pitchFamily="34" charset="0"/>
                <a:ea typeface="Arial" pitchFamily="34" charset="-122"/>
                <a:cs typeface="Arial" pitchFamily="34" charset="-120"/>
              </a:rPr>
              <a:t>BEAT 3 · GOVERNED · ~2 MIN</a:t>
            </a:r>
            <a:endParaRPr lang="en-US" sz="1250" dirty="0"/>
          </a:p>
        </p:txBody>
      </p:sp>
      <p:sp>
        <p:nvSpPr>
          <p:cNvPr id="3" name="Text 1"/>
          <p:cNvSpPr/>
          <p:nvPr/>
        </p:nvSpPr>
        <p:spPr>
          <a:xfrm>
            <a:off x="548640" y="621792"/>
            <a:ext cx="11064240" cy="640080"/>
          </a:xfrm>
          <a:prstGeom prst="rect">
            <a:avLst/>
          </a:prstGeom>
          <a:noFill/>
          <a:ln/>
        </p:spPr>
        <p:txBody>
          <a:bodyPr wrap="square" lIns="0" tIns="0" rIns="0" bIns="0" rtlCol="0" anchor="ctr"/>
          <a:lstStyle/>
          <a:p>
            <a:pPr indent="0" marL="0">
              <a:buNone/>
            </a:pPr>
            <a:r>
              <a:rPr lang="en-US" sz="2700" b="1" dirty="0">
                <a:solidFill>
                  <a:srgbClr val="FFFFFF"/>
                </a:solidFill>
                <a:latin typeface="Arial" pitchFamily="34" charset="0"/>
                <a:ea typeface="Arial" pitchFamily="34" charset="-122"/>
                <a:cs typeface="Arial" pitchFamily="34" charset="-120"/>
              </a:rPr>
              <a:t>The real download, </a:t>
            </a:r>
            <a:pPr indent="0" marL="0">
              <a:buNone/>
            </a:pPr>
            <a:r>
              <a:rPr lang="en-US" sz="2700" b="1" dirty="0">
                <a:solidFill>
                  <a:srgbClr val="5FC8FF"/>
                </a:solidFill>
                <a:latin typeface="Arial" pitchFamily="34" charset="0"/>
                <a:ea typeface="Arial" pitchFamily="34" charset="-122"/>
                <a:cs typeface="Arial" pitchFamily="34" charset="-120"/>
              </a:rPr>
              <a:t>allowed and logged</a:t>
            </a:r>
            <a:endParaRPr lang="en-US" sz="2700" dirty="0"/>
          </a:p>
        </p:txBody>
      </p:sp>
      <p:sp>
        <p:nvSpPr>
          <p:cNvPr id="4" name="Shape 2"/>
          <p:cNvSpPr/>
          <p:nvPr/>
        </p:nvSpPr>
        <p:spPr>
          <a:xfrm>
            <a:off x="8229600" y="411480"/>
            <a:ext cx="1691640" cy="457200"/>
          </a:xfrm>
          <a:prstGeom prst="roundRect">
            <a:avLst>
              <a:gd name="adj" fmla="val 50000"/>
            </a:avLst>
          </a:prstGeom>
          <a:solidFill>
            <a:srgbClr val="061B44">
              <a:alpha val="90000"/>
            </a:srgbClr>
          </a:solidFill>
          <a:ln w="19050">
            <a:solidFill>
              <a:srgbClr val="54E0A0"/>
            </a:solidFill>
            <a:prstDash val="solid"/>
          </a:ln>
          <a:effectLst>
            <a:outerShdw sx="100000" sy="100000" kx="0" ky="0" algn="bl" rotWithShape="0" blurRad="127000" dist="50800" dir="16200000">
              <a:srgbClr val="4FC8FF">
                <a:alpha val="38000"/>
              </a:srgbClr>
            </a:outerShdw>
          </a:effectLst>
        </p:spPr>
      </p:sp>
      <p:sp>
        <p:nvSpPr>
          <p:cNvPr id="5" name="Text 3"/>
          <p:cNvSpPr/>
          <p:nvPr/>
        </p:nvSpPr>
        <p:spPr>
          <a:xfrm>
            <a:off x="8229600" y="411480"/>
            <a:ext cx="1691640" cy="457200"/>
          </a:xfrm>
          <a:prstGeom prst="rect">
            <a:avLst/>
          </a:prstGeom>
          <a:noFill/>
          <a:ln/>
        </p:spPr>
        <p:txBody>
          <a:bodyPr wrap="square" lIns="0" tIns="0" rIns="0" bIns="0" rtlCol="0" anchor="ctr"/>
          <a:lstStyle/>
          <a:p>
            <a:pPr algn="ctr" indent="0" marL="0">
              <a:buNone/>
            </a:pPr>
            <a:r>
              <a:rPr lang="en-US" sz="1300" b="1" dirty="0">
                <a:solidFill>
                  <a:srgbClr val="54E0A0"/>
                </a:solidFill>
                <a:latin typeface="Arial" pitchFamily="34" charset="0"/>
                <a:ea typeface="Arial" pitchFamily="34" charset="-122"/>
                <a:cs typeface="Arial" pitchFamily="34" charset="-120"/>
              </a:rPr>
              <a:t>ALLOW</a:t>
            </a:r>
            <a:endParaRPr lang="en-US" sz="1300" dirty="0"/>
          </a:p>
        </p:txBody>
      </p:sp>
      <p:sp>
        <p:nvSpPr>
          <p:cNvPr id="6" name="Shape 4"/>
          <p:cNvSpPr/>
          <p:nvPr/>
        </p:nvSpPr>
        <p:spPr>
          <a:xfrm>
            <a:off x="9966960" y="411480"/>
            <a:ext cx="1691640" cy="457200"/>
          </a:xfrm>
          <a:prstGeom prst="roundRect">
            <a:avLst>
              <a:gd name="adj" fmla="val 50000"/>
            </a:avLst>
          </a:prstGeom>
          <a:solidFill>
            <a:srgbClr val="061B44">
              <a:alpha val="90000"/>
            </a:srgbClr>
          </a:solidFill>
          <a:ln w="19050">
            <a:solidFill>
              <a:srgbClr val="FF7A85"/>
            </a:solidFill>
            <a:prstDash val="solid"/>
          </a:ln>
          <a:effectLst>
            <a:outerShdw sx="100000" sy="100000" kx="0" ky="0" algn="bl" rotWithShape="0" blurRad="127000" dist="50800" dir="16200000">
              <a:srgbClr val="4FC8FF">
                <a:alpha val="38000"/>
              </a:srgbClr>
            </a:outerShdw>
          </a:effectLst>
        </p:spPr>
      </p:sp>
      <p:sp>
        <p:nvSpPr>
          <p:cNvPr id="7" name="Text 5"/>
          <p:cNvSpPr/>
          <p:nvPr/>
        </p:nvSpPr>
        <p:spPr>
          <a:xfrm>
            <a:off x="9966960" y="411480"/>
            <a:ext cx="1691640" cy="457200"/>
          </a:xfrm>
          <a:prstGeom prst="rect">
            <a:avLst/>
          </a:prstGeom>
          <a:noFill/>
          <a:ln/>
        </p:spPr>
        <p:txBody>
          <a:bodyPr wrap="square" lIns="0" tIns="0" rIns="0" bIns="0" rtlCol="0" anchor="ctr"/>
          <a:lstStyle/>
          <a:p>
            <a:pPr algn="ctr" indent="0" marL="0">
              <a:buNone/>
            </a:pPr>
            <a:r>
              <a:rPr lang="en-US" sz="1300" b="1" dirty="0">
                <a:solidFill>
                  <a:srgbClr val="FF7A85"/>
                </a:solidFill>
                <a:latin typeface="Arial" pitchFamily="34" charset="0"/>
                <a:ea typeface="Arial" pitchFamily="34" charset="-122"/>
                <a:cs typeface="Arial" pitchFamily="34" charset="-120"/>
              </a:rPr>
              <a:t>DENY</a:t>
            </a:r>
            <a:endParaRPr lang="en-US" sz="1300" dirty="0"/>
          </a:p>
        </p:txBody>
      </p:sp>
      <p:sp>
        <p:nvSpPr>
          <p:cNvPr id="8" name="Text 6"/>
          <p:cNvSpPr/>
          <p:nvPr/>
        </p:nvSpPr>
        <p:spPr>
          <a:xfrm>
            <a:off x="566928" y="1261872"/>
            <a:ext cx="7315200" cy="347472"/>
          </a:xfrm>
          <a:prstGeom prst="rect">
            <a:avLst/>
          </a:prstGeom>
          <a:noFill/>
          <a:ln/>
        </p:spPr>
        <p:txBody>
          <a:bodyPr wrap="square" lIns="0" tIns="0" rIns="0" bIns="0" rtlCol="0" anchor="ctr"/>
          <a:lstStyle/>
          <a:p>
            <a:pPr indent="0" marL="0">
              <a:buNone/>
            </a:pPr>
            <a:r>
              <a:rPr lang="en-US" sz="1250" b="1" dirty="0">
                <a:solidFill>
                  <a:srgbClr val="54E0A0"/>
                </a:solidFill>
                <a:latin typeface="Courier New" pitchFamily="34" charset="0"/>
                <a:ea typeface="Courier New" pitchFamily="34" charset="-122"/>
                <a:cs typeface="Courier New" pitchFamily="34" charset="-120"/>
              </a:rPr>
              <a:t>$ </a:t>
            </a:r>
            <a:pPr indent="0" marL="0">
              <a:buNone/>
            </a:pPr>
            <a:r>
              <a:rPr lang="en-US" sz="1250" dirty="0">
                <a:solidFill>
                  <a:srgbClr val="FFFFFF"/>
                </a:solidFill>
                <a:latin typeface="Courier New" pitchFamily="34" charset="0"/>
                <a:ea typeface="Courier New" pitchFamily="34" charset="-122"/>
                <a:cs typeface="Courier New" pitchFamily="34" charset="-120"/>
              </a:rPr>
              <a:t>demo/run-sandbox-beat.sh shell gov-demo</a:t>
            </a:r>
            <a:endParaRPr lang="en-US" sz="1250" dirty="0"/>
          </a:p>
        </p:txBody>
      </p:sp>
      <p:sp>
        <p:nvSpPr>
          <p:cNvPr id="9" name="Shape 7"/>
          <p:cNvSpPr/>
          <p:nvPr/>
        </p:nvSpPr>
        <p:spPr>
          <a:xfrm>
            <a:off x="548640" y="1664208"/>
            <a:ext cx="5769864" cy="5059890"/>
          </a:xfrm>
          <a:prstGeom prst="roundRect">
            <a:avLst>
              <a:gd name="adj" fmla="val 2169"/>
            </a:avLst>
          </a:prstGeom>
          <a:solidFill>
            <a:srgbClr val="061B44">
              <a:alpha val="90000"/>
            </a:srgbClr>
          </a:solidFill>
          <a:ln w="12700">
            <a:solidFill>
              <a:srgbClr val="4FA8E8"/>
            </a:solidFill>
            <a:prstDash val="solid"/>
          </a:ln>
          <a:effectLst>
            <a:outerShdw sx="100000" sy="100000" kx="0" ky="0" algn="bl" rotWithShape="0" blurRad="127000" dist="50800" dir="16200000">
              <a:srgbClr val="4FC8FF">
                <a:alpha val="38000"/>
              </a:srgbClr>
            </a:outerShdw>
          </a:effectLst>
        </p:spPr>
      </p:sp>
      <p:pic>
        <p:nvPicPr>
          <p:cNvPr id="10" name="Image 0" descr="/Users/mark.maxwelldocker.com/sandboxes/WADMCPDemo/screenshots/png/beat3-sandbox.png">    </p:cNvPr>
          <p:cNvPicPr>
            <a:picLocks noChangeAspect="1"/>
          </p:cNvPicPr>
          <p:nvPr/>
        </p:nvPicPr>
        <p:blipFill>
          <a:blip r:embed="rId2"/>
          <a:stretch>
            <a:fillRect/>
          </a:stretch>
        </p:blipFill>
        <p:spPr>
          <a:xfrm>
            <a:off x="621792" y="1737360"/>
            <a:ext cx="5623560" cy="4913586"/>
          </a:xfrm>
          <a:prstGeom prst="rect">
            <a:avLst/>
          </a:prstGeom>
        </p:spPr>
      </p:pic>
      <p:sp>
        <p:nvSpPr>
          <p:cNvPr id="11" name="Text 8"/>
          <p:cNvSpPr/>
          <p:nvPr/>
        </p:nvSpPr>
        <p:spPr>
          <a:xfrm>
            <a:off x="6629400" y="1737360"/>
            <a:ext cx="5029200" cy="256032"/>
          </a:xfrm>
          <a:prstGeom prst="rect">
            <a:avLst/>
          </a:prstGeom>
          <a:noFill/>
          <a:ln/>
        </p:spPr>
        <p:txBody>
          <a:bodyPr wrap="square" lIns="0" tIns="0" rIns="0" bIns="0" rtlCol="0" anchor="ctr"/>
          <a:lstStyle/>
          <a:p>
            <a:pPr indent="0" marL="0">
              <a:buNone/>
            </a:pPr>
            <a:r>
              <a:rPr lang="en-US" sz="1200" b="1" spc="150" kern="0" dirty="0">
                <a:solidFill>
                  <a:srgbClr val="5FC8FF"/>
                </a:solidFill>
                <a:latin typeface="Arial" pitchFamily="34" charset="0"/>
                <a:ea typeface="Arial" pitchFamily="34" charset="-122"/>
                <a:cs typeface="Arial" pitchFamily="34" charset="-120"/>
              </a:rPr>
              <a:t>WHAT IS HAPPENING</a:t>
            </a:r>
            <a:endParaRPr lang="en-US" sz="1200" dirty="0"/>
          </a:p>
        </p:txBody>
      </p:sp>
      <p:sp>
        <p:nvSpPr>
          <p:cNvPr id="12" name="Text 9"/>
          <p:cNvSpPr/>
          <p:nvPr/>
        </p:nvSpPr>
        <p:spPr>
          <a:xfrm>
            <a:off x="6629400" y="2103120"/>
            <a:ext cx="5029200" cy="3383280"/>
          </a:xfrm>
          <a:prstGeom prst="rect">
            <a:avLst/>
          </a:prstGeom>
          <a:noFill/>
          <a:ln/>
        </p:spPr>
        <p:txBody>
          <a:bodyPr wrap="square" lIns="0" tIns="0" rIns="0" bIns="0" rtlCol="0" anchor="t"/>
          <a:lstStyle/>
          <a:p>
            <a:pPr marL="177800" indent="-177800">
              <a:buSzPct val="100000"/>
              <a:buChar char="•"/>
            </a:pPr>
            <a:r>
              <a:rPr lang="en-US" sz="1200" b="1" dirty="0">
                <a:solidFill>
                  <a:srgbClr val="FFFFFF"/>
                </a:solidFill>
                <a:latin typeface="Arial" pitchFamily="34" charset="0"/>
                <a:ea typeface="Arial" pitchFamily="34" charset="-122"/>
                <a:cs typeface="Arial" pitchFamily="34" charset="-120"/>
              </a:rPr>
              <a:t>An agent inside a governed sandbox</a:t>
            </a:r>
            <a:pPr indent="0" marL="0">
              <a:spcAft>
                <a:spcPts val="600"/>
              </a:spcAft>
              <a:buNone/>
            </a:pPr>
            <a:r>
              <a:rPr lang="en-US" sz="1200" dirty="0">
                <a:solidFill>
                  <a:srgbClr val="D6E6FB"/>
                </a:solidFill>
                <a:latin typeface="Arial" pitchFamily="34" charset="0"/>
                <a:ea typeface="Arial" pitchFamily="34" charset="-122"/>
                <a:cs typeface="Arial" pitchFamily="34" charset="-120"/>
              </a:rPr>
              <a:t> talks only to the gateway at mcp-gateway.docker.internal. The approved server is loaded into that gateway.</a:t>
            </a:r>
            <a:endParaRPr lang="en-US" sz="1200" dirty="0"/>
          </a:p>
          <a:p>
            <a:pPr marL="177800" indent="-177800">
              <a:buSzPct val="100000"/>
              <a:buChar char="•"/>
            </a:pPr>
            <a:r>
              <a:rPr lang="en-US" sz="1200" b="1" dirty="0">
                <a:solidFill>
                  <a:srgbClr val="FFFFFF"/>
                </a:solidFill>
                <a:latin typeface="Arial" pitchFamily="34" charset="0"/>
                <a:ea typeface="Arial" pitchFamily="34" charset="-122"/>
                <a:cs typeface="Arial" pitchFamily="34" charset="-120"/>
              </a:rPr>
              <a:t>npm_download runs npm pack left-pad.</a:t>
            </a:r>
            <a:pPr indent="0" marL="0">
              <a:spcAft>
                <a:spcPts val="600"/>
              </a:spcAft>
              <a:buNone/>
            </a:pPr>
            <a:r>
              <a:rPr lang="en-US" sz="1200" dirty="0">
                <a:solidFill>
                  <a:srgbClr val="D6E6FB"/>
                </a:solidFill>
                <a:latin typeface="Arial" pitchFamily="34" charset="0"/>
                <a:ea typeface="Arial" pitchFamily="34" charset="-122"/>
                <a:cs typeface="Arial" pitchFamily="34" charset="-120"/>
              </a:rPr>
              <a:t> Tarball path, size, shasum and integrity come back. A real download of a real package.</a:t>
            </a:r>
            <a:endParaRPr lang="en-US" sz="1200" dirty="0"/>
          </a:p>
          <a:p>
            <a:pPr marL="177800" indent="-177800">
              <a:buSzPct val="100000"/>
              <a:buChar char="•"/>
            </a:pPr>
            <a:r>
              <a:rPr lang="en-US" sz="1200" b="1" dirty="0">
                <a:solidFill>
                  <a:srgbClr val="FFFFFF"/>
                </a:solidFill>
                <a:latin typeface="Arial" pitchFamily="34" charset="0"/>
                <a:ea typeface="Arial" pitchFamily="34" charset="-122"/>
                <a:cs typeface="Arial" pitchFamily="34" charset="-120"/>
              </a:rPr>
              <a:t>The agent tries to add the poisoned server itself</a:t>
            </a:r>
            <a:pPr indent="0" marL="0">
              <a:spcAft>
                <a:spcPts val="600"/>
              </a:spcAft>
              <a:buNone/>
            </a:pPr>
            <a:r>
              <a:rPr lang="en-US" sz="1200" dirty="0">
                <a:solidFill>
                  <a:srgbClr val="D6E6FB"/>
                </a:solidFill>
                <a:latin typeface="Arial" pitchFamily="34" charset="0"/>
                <a:ea typeface="Arial" pitchFamily="34" charset="-122"/>
                <a:cs typeface="Arial" pitchFamily="34" charset="-120"/>
              </a:rPr>
              <a:t> via the gateway's mcp-add tool and gets policy denied /mcp-add: implicit. The agent cannot shop for tools.</a:t>
            </a:r>
            <a:endParaRPr lang="en-US" sz="1200" dirty="0"/>
          </a:p>
          <a:p>
            <a:pPr marL="177800" indent="-177800">
              <a:buSzPct val="100000"/>
              <a:buChar char="•"/>
            </a:pPr>
            <a:r>
              <a:rPr lang="en-US" sz="1200" b="1" dirty="0">
                <a:solidFill>
                  <a:srgbClr val="FFFFFF"/>
                </a:solidFill>
                <a:latin typeface="Arial" pitchFamily="34" charset="0"/>
                <a:ea typeface="Arial" pitchFamily="34" charset="-122"/>
                <a:cs typeface="Arial" pitchFamily="34" charset="-120"/>
              </a:rPr>
              <a:t>Both decisions are audited</a:t>
            </a:r>
            <a:pPr indent="0" marL="0">
              <a:spcAft>
                <a:spcPts val="600"/>
              </a:spcAft>
              <a:buNone/>
            </a:pPr>
            <a:r>
              <a:rPr lang="en-US" sz="1200" dirty="0">
                <a:solidFill>
                  <a:srgbClr val="D6E6FB"/>
                </a:solidFill>
                <a:latin typeface="Arial" pitchFamily="34" charset="0"/>
                <a:ea typeface="Arial" pitchFamily="34" charset="-122"/>
                <a:cs typeface="Arial" pitchFamily="34" charset="-120"/>
              </a:rPr>
              <a:t> under Event type = Tool Invocation: npm_download ALLOW, mcp-add DENY.</a:t>
            </a:r>
            <a:endParaRPr lang="en-US" sz="1200" dirty="0"/>
          </a:p>
        </p:txBody>
      </p:sp>
      <p:sp>
        <p:nvSpPr>
          <p:cNvPr id="13" name="Shape 10"/>
          <p:cNvSpPr/>
          <p:nvPr/>
        </p:nvSpPr>
        <p:spPr>
          <a:xfrm>
            <a:off x="6629400" y="5486400"/>
            <a:ext cx="5029200" cy="777240"/>
          </a:xfrm>
          <a:prstGeom prst="roundRect">
            <a:avLst>
              <a:gd name="adj" fmla="val 11765"/>
            </a:avLst>
          </a:prstGeom>
          <a:solidFill>
            <a:srgbClr val="0A1C44">
              <a:alpha val="70000"/>
            </a:srgbClr>
          </a:solidFill>
          <a:ln w="15875">
            <a:solidFill>
              <a:srgbClr val="5FC8FF"/>
            </a:solidFill>
            <a:prstDash val="solid"/>
          </a:ln>
          <a:effectLst>
            <a:outerShdw sx="100000" sy="100000" kx="0" ky="0" algn="bl" rotWithShape="0" blurRad="127000" dist="50800" dir="16200000">
              <a:srgbClr val="4FC8FF">
                <a:alpha val="38000"/>
              </a:srgbClr>
            </a:outerShdw>
          </a:effectLst>
        </p:spPr>
      </p:sp>
      <p:sp>
        <p:nvSpPr>
          <p:cNvPr id="14" name="Text 11"/>
          <p:cNvSpPr/>
          <p:nvPr/>
        </p:nvSpPr>
        <p:spPr>
          <a:xfrm>
            <a:off x="6858000" y="5486400"/>
            <a:ext cx="4572000" cy="777240"/>
          </a:xfrm>
          <a:prstGeom prst="rect">
            <a:avLst/>
          </a:prstGeom>
          <a:noFill/>
          <a:ln/>
        </p:spPr>
        <p:txBody>
          <a:bodyPr wrap="square" lIns="0" tIns="0" rIns="0" bIns="0" rtlCol="0" anchor="ctr"/>
          <a:lstStyle/>
          <a:p>
            <a:pPr indent="0" marL="0">
              <a:buNone/>
            </a:pPr>
            <a:r>
              <a:rPr lang="en-US" sz="1150" b="1" dirty="0">
                <a:solidFill>
                  <a:srgbClr val="5FC8FF"/>
                </a:solidFill>
                <a:latin typeface="Arial" pitchFamily="34" charset="0"/>
                <a:ea typeface="Arial" pitchFamily="34" charset="-122"/>
                <a:cs typeface="Arial" pitchFamily="34" charset="-120"/>
              </a:rPr>
              <a:t>Say  </a:t>
            </a:r>
            <a:pPr indent="0" marL="0">
              <a:buNone/>
            </a:pPr>
            <a:r>
              <a:rPr lang="en-US" sz="1150" dirty="0">
                <a:solidFill>
                  <a:srgbClr val="FFFFFF"/>
                </a:solidFill>
                <a:latin typeface="Arial" pitchFamily="34" charset="0"/>
                <a:ea typeface="Arial" pitchFamily="34" charset="-122"/>
                <a:cs typeface="Arial" pitchFamily="34" charset="-120"/>
              </a:rPr>
              <a:t>Same agent, same gateway. The unvetted server was blocked at the door; the curated one pulled the package, and every call is logged.</a:t>
            </a:r>
            <a:endParaRPr lang="en-US" sz="1150" dirty="0"/>
          </a:p>
        </p:txBody>
      </p:sp>
      <p:pic>
        <p:nvPicPr>
          <p:cNvPr id="15" name="Image 1" descr="/Users/mark.maxwelldocker.com/sandboxes/WADMCPDemo/slides/deck-src/assets/docker_logo.png">    </p:cNvPr>
          <p:cNvPicPr>
            <a:picLocks noChangeAspect="1"/>
          </p:cNvPicPr>
          <p:nvPr/>
        </p:nvPicPr>
        <p:blipFill>
          <a:blip r:embed="rId3"/>
          <a:stretch>
            <a:fillRect/>
          </a:stretch>
        </p:blipFill>
        <p:spPr>
          <a:xfrm>
            <a:off x="10378440" y="6382512"/>
            <a:ext cx="1371600" cy="31089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66928" y="384048"/>
            <a:ext cx="7315200" cy="256032"/>
          </a:xfrm>
          <a:prstGeom prst="rect">
            <a:avLst/>
          </a:prstGeom>
          <a:noFill/>
          <a:ln/>
        </p:spPr>
        <p:txBody>
          <a:bodyPr wrap="square" lIns="0" tIns="0" rIns="0" bIns="0" rtlCol="0" anchor="ctr"/>
          <a:lstStyle/>
          <a:p>
            <a:pPr indent="0" marL="0">
              <a:buNone/>
            </a:pPr>
            <a:r>
              <a:rPr lang="en-US" sz="1250" b="1" spc="150" kern="0" dirty="0">
                <a:solidFill>
                  <a:srgbClr val="5FC8FF"/>
                </a:solidFill>
                <a:latin typeface="Arial" pitchFamily="34" charset="0"/>
                <a:ea typeface="Arial" pitchFamily="34" charset="-122"/>
                <a:cs typeface="Arial" pitchFamily="34" charset="-120"/>
              </a:rPr>
              <a:t>THE AUDIT TRAIL · DOCKER HOME</a:t>
            </a:r>
            <a:endParaRPr lang="en-US" sz="1250" dirty="0"/>
          </a:p>
        </p:txBody>
      </p:sp>
      <p:sp>
        <p:nvSpPr>
          <p:cNvPr id="3" name="Text 1"/>
          <p:cNvSpPr/>
          <p:nvPr/>
        </p:nvSpPr>
        <p:spPr>
          <a:xfrm>
            <a:off x="548640" y="621792"/>
            <a:ext cx="11064240" cy="640080"/>
          </a:xfrm>
          <a:prstGeom prst="rect">
            <a:avLst/>
          </a:prstGeom>
          <a:noFill/>
          <a:ln/>
        </p:spPr>
        <p:txBody>
          <a:bodyPr wrap="square" lIns="0" tIns="0" rIns="0" bIns="0" rtlCol="0" anchor="ctr"/>
          <a:lstStyle/>
          <a:p>
            <a:pPr indent="0" marL="0">
              <a:buNone/>
            </a:pPr>
            <a:r>
              <a:rPr lang="en-US" sz="2700" b="1" dirty="0">
                <a:solidFill>
                  <a:srgbClr val="FFFFFF"/>
                </a:solidFill>
                <a:latin typeface="Arial" pitchFamily="34" charset="0"/>
                <a:ea typeface="Arial" pitchFamily="34" charset="-122"/>
                <a:cs typeface="Arial" pitchFamily="34" charset="-120"/>
              </a:rPr>
              <a:t>Every decision, </a:t>
            </a:r>
            <a:pPr indent="0" marL="0">
              <a:buNone/>
            </a:pPr>
            <a:r>
              <a:rPr lang="en-US" sz="2700" b="1" dirty="0">
                <a:solidFill>
                  <a:srgbClr val="5FC8FF"/>
                </a:solidFill>
                <a:latin typeface="Arial" pitchFamily="34" charset="0"/>
                <a:ea typeface="Arial" pitchFamily="34" charset="-122"/>
                <a:cs typeface="Arial" pitchFamily="34" charset="-120"/>
              </a:rPr>
              <a:t>on the record</a:t>
            </a:r>
            <a:endParaRPr lang="en-US" sz="2700" dirty="0"/>
          </a:p>
        </p:txBody>
      </p:sp>
      <p:sp>
        <p:nvSpPr>
          <p:cNvPr id="4" name="Text 2"/>
          <p:cNvSpPr/>
          <p:nvPr/>
        </p:nvSpPr>
        <p:spPr>
          <a:xfrm>
            <a:off x="566928" y="1207008"/>
            <a:ext cx="11064240" cy="329184"/>
          </a:xfrm>
          <a:prstGeom prst="rect">
            <a:avLst/>
          </a:prstGeom>
          <a:noFill/>
          <a:ln/>
        </p:spPr>
        <p:txBody>
          <a:bodyPr wrap="square" lIns="0" tIns="0" rIns="0" bIns="0" rtlCol="0" anchor="t"/>
          <a:lstStyle/>
          <a:p>
            <a:pPr indent="0" marL="0">
              <a:buNone/>
            </a:pPr>
            <a:r>
              <a:rPr lang="en-US" sz="1350" i="1" dirty="0">
                <a:solidFill>
                  <a:srgbClr val="BFE6FF"/>
                </a:solidFill>
                <a:latin typeface="Arial" pitchFamily="34" charset="0"/>
                <a:ea typeface="Arial" pitchFamily="34" charset="-122"/>
                <a:cs typeface="Arial" pitchFamily="34" charset="-120"/>
              </a:rPr>
              <a:t>AI Platform → Audit logs, signed in as an org owner. Two event types tell the whole story.</a:t>
            </a:r>
            <a:endParaRPr lang="en-US" sz="1350" dirty="0"/>
          </a:p>
        </p:txBody>
      </p:sp>
      <p:sp>
        <p:nvSpPr>
          <p:cNvPr id="5" name="Text 3"/>
          <p:cNvSpPr/>
          <p:nvPr/>
        </p:nvSpPr>
        <p:spPr>
          <a:xfrm>
            <a:off x="566928" y="1691640"/>
            <a:ext cx="5486400" cy="256032"/>
          </a:xfrm>
          <a:prstGeom prst="rect">
            <a:avLst/>
          </a:prstGeom>
          <a:noFill/>
          <a:ln/>
        </p:spPr>
        <p:txBody>
          <a:bodyPr wrap="square" lIns="0" tIns="0" rIns="0" bIns="0" rtlCol="0" anchor="ctr"/>
          <a:lstStyle/>
          <a:p>
            <a:pPr indent="0" marL="0">
              <a:buNone/>
            </a:pPr>
            <a:r>
              <a:rPr lang="en-US" sz="1200" b="1" spc="150" kern="0" dirty="0">
                <a:solidFill>
                  <a:srgbClr val="5FC8FF"/>
                </a:solidFill>
                <a:latin typeface="Arial" pitchFamily="34" charset="0"/>
                <a:ea typeface="Arial" pitchFamily="34" charset="-122"/>
                <a:cs typeface="Arial" pitchFamily="34" charset="-120"/>
              </a:rPr>
              <a:t>ROWS PRODUCED BY THIS RUN</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66928" y="2011680"/>
          <a:ext cx="5943600" cy="914400"/>
        </p:xfrm>
        <a:graphic>
          <a:graphicData uri="http://schemas.openxmlformats.org/drawingml/2006/table">
            <a:tbl>
              <a:tblPr/>
              <a:tblGrid>
                <a:gridCol w="1600200"/>
                <a:gridCol w="960120"/>
                <a:gridCol w="2514600"/>
                <a:gridCol w="868680"/>
              </a:tblGrid>
              <a:tr h="329184">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Event type</a:t>
                      </a:r>
                      <a:endParaRPr lang="en-US" sz="1050" dirty="0">
                        <a:latin typeface="Arial" charset="0"/>
                        <a:ea typeface="Arial" charset="0"/>
                        <a:cs typeface="Arial" charset="0"/>
                      </a:endParaRPr>
                    </a:p>
                  </a:txBody>
                  <a:tcPr marL="76200" marR="76200" marT="38100" marB="38100" anchor="ctr">
                    <a:lnL w="6350" cap="flat" cmpd="sng" algn="ctr">
                      <a:solidFill>
                        <a:srgbClr val="4FA8E8"/>
                      </a:solidFill>
                      <a:prstDash val="solid"/>
                      <a:round/>
                      <a:headEnd type="none" w="med" len="med"/>
                      <a:tailEnd type="none" w="med" len="med"/>
                    </a:lnL>
                    <a:lnR w="6350" cap="flat" cmpd="sng" algn="ctr">
                      <a:solidFill>
                        <a:srgbClr val="4FA8E8"/>
                      </a:solidFill>
                      <a:prstDash val="solid"/>
                      <a:round/>
                      <a:headEnd type="none" w="med" len="med"/>
                      <a:tailEnd type="none" w="med" len="med"/>
                    </a:lnR>
                    <a:lnT w="6350" cap="flat" cmpd="sng" algn="ctr">
                      <a:solidFill>
                        <a:srgbClr val="4FA8E8"/>
                      </a:solidFill>
                      <a:prstDash val="solid"/>
                      <a:round/>
                      <a:headEnd type="none" w="med" len="med"/>
                      <a:tailEnd type="none" w="med" len="med"/>
                    </a:lnT>
                    <a:lnB w="6350" cap="flat" cmpd="sng" algn="ctr">
                      <a:solidFill>
                        <a:srgbClr val="4FA8E8"/>
                      </a:solidFill>
                      <a:prstDash val="solid"/>
                      <a:round/>
                      <a:headEnd type="none" w="med" len="med"/>
                      <a:tailEnd type="none" w="med" len="med"/>
                    </a:lnB>
                    <a:solidFill>
                      <a:srgbClr val="5FC8FF"/>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Principal</a:t>
                      </a:r>
                      <a:endParaRPr lang="en-US" sz="1050" dirty="0">
                        <a:latin typeface="Arial" charset="0"/>
                        <a:ea typeface="Arial" charset="0"/>
                        <a:cs typeface="Arial" charset="0"/>
                      </a:endParaRPr>
                    </a:p>
                  </a:txBody>
                  <a:tcPr marL="76200" marR="76200" marT="38100" marB="38100" anchor="ctr">
                    <a:lnL w="6350" cap="flat" cmpd="sng" algn="ctr">
                      <a:solidFill>
                        <a:srgbClr val="4FA8E8"/>
                      </a:solidFill>
                      <a:prstDash val="solid"/>
                      <a:round/>
                      <a:headEnd type="none" w="med" len="med"/>
                      <a:tailEnd type="none" w="med" len="med"/>
                    </a:lnL>
                    <a:lnR w="6350" cap="flat" cmpd="sng" algn="ctr">
                      <a:solidFill>
                        <a:srgbClr val="4FA8E8"/>
                      </a:solidFill>
                      <a:prstDash val="solid"/>
                      <a:round/>
                      <a:headEnd type="none" w="med" len="med"/>
                      <a:tailEnd type="none" w="med" len="med"/>
                    </a:lnR>
                    <a:lnT w="6350" cap="flat" cmpd="sng" algn="ctr">
                      <a:solidFill>
                        <a:srgbClr val="4FA8E8"/>
                      </a:solidFill>
                      <a:prstDash val="solid"/>
                      <a:round/>
                      <a:headEnd type="none" w="med" len="med"/>
                      <a:tailEnd type="none" w="med" len="med"/>
                    </a:lnT>
                    <a:lnB w="6350" cap="flat" cmpd="sng" algn="ctr">
                      <a:solidFill>
                        <a:srgbClr val="4FA8E8"/>
                      </a:solidFill>
                      <a:prstDash val="solid"/>
                      <a:round/>
                      <a:headEnd type="none" w="med" len="med"/>
                      <a:tailEnd type="none" w="med" len="med"/>
                    </a:lnB>
                    <a:solidFill>
                      <a:srgbClr val="5FC8FF"/>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Resource</a:t>
                      </a:r>
                      <a:endParaRPr lang="en-US" sz="1050" dirty="0">
                        <a:latin typeface="Arial" charset="0"/>
                        <a:ea typeface="Arial" charset="0"/>
                        <a:cs typeface="Arial" charset="0"/>
                      </a:endParaRPr>
                    </a:p>
                  </a:txBody>
                  <a:tcPr marL="76200" marR="76200" marT="38100" marB="38100" anchor="ctr">
                    <a:lnL w="6350" cap="flat" cmpd="sng" algn="ctr">
                      <a:solidFill>
                        <a:srgbClr val="4FA8E8"/>
                      </a:solidFill>
                      <a:prstDash val="solid"/>
                      <a:round/>
                      <a:headEnd type="none" w="med" len="med"/>
                      <a:tailEnd type="none" w="med" len="med"/>
                    </a:lnL>
                    <a:lnR w="6350" cap="flat" cmpd="sng" algn="ctr">
                      <a:solidFill>
                        <a:srgbClr val="4FA8E8"/>
                      </a:solidFill>
                      <a:prstDash val="solid"/>
                      <a:round/>
                      <a:headEnd type="none" w="med" len="med"/>
                      <a:tailEnd type="none" w="med" len="med"/>
                    </a:lnR>
                    <a:lnT w="6350" cap="flat" cmpd="sng" algn="ctr">
                      <a:solidFill>
                        <a:srgbClr val="4FA8E8"/>
                      </a:solidFill>
                      <a:prstDash val="solid"/>
                      <a:round/>
                      <a:headEnd type="none" w="med" len="med"/>
                      <a:tailEnd type="none" w="med" len="med"/>
                    </a:lnT>
                    <a:lnB w="6350" cap="flat" cmpd="sng" algn="ctr">
                      <a:solidFill>
                        <a:srgbClr val="4FA8E8"/>
                      </a:solidFill>
                      <a:prstDash val="solid"/>
                      <a:round/>
                      <a:headEnd type="none" w="med" len="med"/>
                      <a:tailEnd type="none" w="med" len="med"/>
                    </a:lnB>
                    <a:solidFill>
                      <a:srgbClr val="5FC8FF"/>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Decision</a:t>
                      </a:r>
                      <a:endParaRPr lang="en-US" sz="1050" dirty="0">
                        <a:latin typeface="Arial" charset="0"/>
                        <a:ea typeface="Arial" charset="0"/>
                        <a:cs typeface="Arial" charset="0"/>
                      </a:endParaRPr>
                    </a:p>
                  </a:txBody>
                  <a:tcPr marL="76200" marR="76200" marT="38100" marB="38100" anchor="ctr">
                    <a:lnL w="6350" cap="flat" cmpd="sng" algn="ctr">
                      <a:solidFill>
                        <a:srgbClr val="4FA8E8"/>
                      </a:solidFill>
                      <a:prstDash val="solid"/>
                      <a:round/>
                      <a:headEnd type="none" w="med" len="med"/>
                      <a:tailEnd type="none" w="med" len="med"/>
                    </a:lnL>
                    <a:lnR w="6350" cap="flat" cmpd="sng" algn="ctr">
                      <a:solidFill>
                        <a:srgbClr val="4FA8E8"/>
                      </a:solidFill>
                      <a:prstDash val="solid"/>
                      <a:round/>
                      <a:headEnd type="none" w="med" len="med"/>
                      <a:tailEnd type="none" w="med" len="med"/>
                    </a:lnR>
                    <a:lnT w="6350" cap="flat" cmpd="sng" algn="ctr">
                      <a:solidFill>
                        <a:srgbClr val="4FA8E8"/>
                      </a:solidFill>
                      <a:prstDash val="solid"/>
                      <a:round/>
                      <a:headEnd type="none" w="med" len="med"/>
                      <a:tailEnd type="none" w="med" len="med"/>
                    </a:lnT>
                    <a:lnB w="6350" cap="flat" cmpd="sng" algn="ctr">
                      <a:solidFill>
                        <a:srgbClr val="4FA8E8"/>
                      </a:solidFill>
                      <a:prstDash val="solid"/>
                      <a:round/>
                      <a:headEnd type="none" w="med" len="med"/>
                      <a:tailEnd type="none" w="med" len="med"/>
                    </a:lnB>
                    <a:solidFill>
                      <a:srgbClr val="5FC8FF"/>
                    </a:solidFill>
                  </a:tcPr>
                </a:tc>
              </a:tr>
              <a:tr h="329184">
                <a:tc>
                  <a:txBody>
                    <a:bodyPr/>
                    <a:lstStyle/>
                    <a:p>
                      <a:pPr indent="0" marL="0">
                        <a:buNone/>
                      </a:pPr>
                      <a:r>
                        <a:rPr lang="en-US" sz="1050" dirty="0">
                          <a:solidFill>
                            <a:srgbClr val="D6E6FB"/>
                          </a:solidFill>
                          <a:latin typeface="Arial" pitchFamily="34" charset="0"/>
                          <a:ea typeface="Arial" pitchFamily="34" charset="-122"/>
                          <a:cs typeface="Arial" pitchFamily="34" charset="-120"/>
                        </a:rPr>
                        <a:t>Server Registration</a:t>
                      </a:r>
                      <a:endParaRPr lang="en-US" sz="1050" dirty="0">
                        <a:latin typeface="Arial" charset="0"/>
                        <a:ea typeface="Arial" charset="0"/>
                        <a:cs typeface="Arial" charset="0"/>
                      </a:endParaRPr>
                    </a:p>
                  </a:txBody>
                  <a:tcPr marL="76200" marR="76200" marT="38100" marB="38100" anchor="ctr">
                    <a:lnL w="6350" cap="flat" cmpd="sng" algn="ctr">
                      <a:solidFill>
                        <a:srgbClr val="4FA8E8"/>
                      </a:solidFill>
                      <a:prstDash val="solid"/>
                      <a:round/>
                      <a:headEnd type="none" w="med" len="med"/>
                      <a:tailEnd type="none" w="med" len="med"/>
                    </a:lnL>
                    <a:lnR w="6350" cap="flat" cmpd="sng" algn="ctr">
                      <a:solidFill>
                        <a:srgbClr val="4FA8E8"/>
                      </a:solidFill>
                      <a:prstDash val="solid"/>
                      <a:round/>
                      <a:headEnd type="none" w="med" len="med"/>
                      <a:tailEnd type="none" w="med" len="med"/>
                    </a:lnR>
                    <a:lnT w="6350" cap="flat" cmpd="sng" algn="ctr">
                      <a:solidFill>
                        <a:srgbClr val="4FA8E8"/>
                      </a:solidFill>
                      <a:prstDash val="solid"/>
                      <a:round/>
                      <a:headEnd type="none" w="med" len="med"/>
                      <a:tailEnd type="none" w="med" len="med"/>
                    </a:lnT>
                    <a:lnB w="6350" cap="flat" cmpd="sng" algn="ctr">
                      <a:solidFill>
                        <a:srgbClr val="4FA8E8"/>
                      </a:solidFill>
                      <a:prstDash val="solid"/>
                      <a:round/>
                      <a:headEnd type="none" w="med" len="med"/>
                      <a:tailEnd type="none" w="med" len="med"/>
                    </a:lnB>
                    <a:solidFill>
                      <a:srgbClr val="1A56AE"/>
                    </a:solidFill>
                  </a:tcPr>
                </a:tc>
                <a:tc>
                  <a:txBody>
                    <a:bodyPr/>
                    <a:lstStyle/>
                    <a:p>
                      <a:pPr indent="0" marL="0">
                        <a:buNone/>
                      </a:pPr>
                      <a:r>
                        <a:rPr lang="en-US" sz="1050" dirty="0">
                          <a:solidFill>
                            <a:srgbClr val="D6E6FB"/>
                          </a:solidFill>
                          <a:latin typeface="Arial" pitchFamily="34" charset="0"/>
                          <a:ea typeface="Arial" pitchFamily="34" charset="-122"/>
                          <a:cs typeface="Arial" pitchFamily="34" charset="-120"/>
                        </a:rPr>
                        <a:t>developer</a:t>
                      </a:r>
                      <a:endParaRPr lang="en-US" sz="1050" dirty="0">
                        <a:latin typeface="Arial" charset="0"/>
                        <a:ea typeface="Arial" charset="0"/>
                        <a:cs typeface="Arial" charset="0"/>
                      </a:endParaRPr>
                    </a:p>
                  </a:txBody>
                  <a:tcPr marL="76200" marR="76200" marT="38100" marB="38100" anchor="ctr">
                    <a:lnL w="6350" cap="flat" cmpd="sng" algn="ctr">
                      <a:solidFill>
                        <a:srgbClr val="4FA8E8"/>
                      </a:solidFill>
                      <a:prstDash val="solid"/>
                      <a:round/>
                      <a:headEnd type="none" w="med" len="med"/>
                      <a:tailEnd type="none" w="med" len="med"/>
                    </a:lnL>
                    <a:lnR w="6350" cap="flat" cmpd="sng" algn="ctr">
                      <a:solidFill>
                        <a:srgbClr val="4FA8E8"/>
                      </a:solidFill>
                      <a:prstDash val="solid"/>
                      <a:round/>
                      <a:headEnd type="none" w="med" len="med"/>
                      <a:tailEnd type="none" w="med" len="med"/>
                    </a:lnR>
                    <a:lnT w="6350" cap="flat" cmpd="sng" algn="ctr">
                      <a:solidFill>
                        <a:srgbClr val="4FA8E8"/>
                      </a:solidFill>
                      <a:prstDash val="solid"/>
                      <a:round/>
                      <a:headEnd type="none" w="med" len="med"/>
                      <a:tailEnd type="none" w="med" len="med"/>
                    </a:lnT>
                    <a:lnB w="6350" cap="flat" cmpd="sng" algn="ctr">
                      <a:solidFill>
                        <a:srgbClr val="4FA8E8"/>
                      </a:solidFill>
                      <a:prstDash val="solid"/>
                      <a:round/>
                      <a:headEnd type="none" w="med" len="med"/>
                      <a:tailEnd type="none" w="med" len="med"/>
                    </a:lnB>
                    <a:solidFill>
                      <a:srgbClr val="1A56AE"/>
                    </a:solidFill>
                  </a:tcPr>
                </a:tc>
                <a:tc>
                  <a:txBody>
                    <a:bodyPr/>
                    <a:lstStyle/>
                    <a:p>
                      <a:pPr indent="0" marL="0">
                        <a:buNone/>
                      </a:pPr>
                      <a:r>
                        <a:rPr lang="en-US" sz="1050" dirty="0">
                          <a:solidFill>
                            <a:srgbClr val="D6E6FB"/>
                          </a:solidFill>
                          <a:latin typeface="Arial" pitchFamily="34" charset="0"/>
                          <a:ea typeface="Arial" pitchFamily="34" charset="-122"/>
                          <a:cs typeface="Arial" pitchFamily="34" charset="-120"/>
                        </a:rPr>
                        <a:t>poisoned-demo</a:t>
                      </a:r>
                      <a:endParaRPr lang="en-US" sz="1050" dirty="0">
                        <a:latin typeface="Arial" charset="0"/>
                        <a:ea typeface="Arial" charset="0"/>
                        <a:cs typeface="Arial" charset="0"/>
                      </a:endParaRPr>
                    </a:p>
                  </a:txBody>
                  <a:tcPr marL="76200" marR="76200" marT="38100" marB="38100" anchor="ctr">
                    <a:lnL w="6350" cap="flat" cmpd="sng" algn="ctr">
                      <a:solidFill>
                        <a:srgbClr val="4FA8E8"/>
                      </a:solidFill>
                      <a:prstDash val="solid"/>
                      <a:round/>
                      <a:headEnd type="none" w="med" len="med"/>
                      <a:tailEnd type="none" w="med" len="med"/>
                    </a:lnL>
                    <a:lnR w="6350" cap="flat" cmpd="sng" algn="ctr">
                      <a:solidFill>
                        <a:srgbClr val="4FA8E8"/>
                      </a:solidFill>
                      <a:prstDash val="solid"/>
                      <a:round/>
                      <a:headEnd type="none" w="med" len="med"/>
                      <a:tailEnd type="none" w="med" len="med"/>
                    </a:lnR>
                    <a:lnT w="6350" cap="flat" cmpd="sng" algn="ctr">
                      <a:solidFill>
                        <a:srgbClr val="4FA8E8"/>
                      </a:solidFill>
                      <a:prstDash val="solid"/>
                      <a:round/>
                      <a:headEnd type="none" w="med" len="med"/>
                      <a:tailEnd type="none" w="med" len="med"/>
                    </a:lnT>
                    <a:lnB w="6350" cap="flat" cmpd="sng" algn="ctr">
                      <a:solidFill>
                        <a:srgbClr val="4FA8E8"/>
                      </a:solidFill>
                      <a:prstDash val="solid"/>
                      <a:round/>
                      <a:headEnd type="none" w="med" len="med"/>
                      <a:tailEnd type="none" w="med" len="med"/>
                    </a:lnB>
                    <a:solidFill>
                      <a:srgbClr val="1A56AE"/>
                    </a:solidFill>
                  </a:tcPr>
                </a:tc>
                <a:tc>
                  <a:txBody>
                    <a:bodyPr/>
                    <a:lstStyle/>
                    <a:p>
                      <a:pPr indent="0" marL="0">
                        <a:buNone/>
                      </a:pPr>
                      <a:r>
                        <a:rPr lang="en-US" sz="1050" dirty="0">
                          <a:solidFill>
                            <a:srgbClr val="D6E6FB"/>
                          </a:solidFill>
                          <a:latin typeface="Arial" pitchFamily="34" charset="0"/>
                          <a:ea typeface="Arial" pitchFamily="34" charset="-122"/>
                          <a:cs typeface="Arial" pitchFamily="34" charset="-120"/>
                        </a:rPr>
                        <a:t>DENY</a:t>
                      </a:r>
                      <a:endParaRPr lang="en-US" sz="1050" dirty="0">
                        <a:latin typeface="Arial" charset="0"/>
                        <a:ea typeface="Arial" charset="0"/>
                        <a:cs typeface="Arial" charset="0"/>
                      </a:endParaRPr>
                    </a:p>
                  </a:txBody>
                  <a:tcPr marL="76200" marR="76200" marT="38100" marB="38100" anchor="ctr">
                    <a:lnL w="6350" cap="flat" cmpd="sng" algn="ctr">
                      <a:solidFill>
                        <a:srgbClr val="4FA8E8"/>
                      </a:solidFill>
                      <a:prstDash val="solid"/>
                      <a:round/>
                      <a:headEnd type="none" w="med" len="med"/>
                      <a:tailEnd type="none" w="med" len="med"/>
                    </a:lnL>
                    <a:lnR w="6350" cap="flat" cmpd="sng" algn="ctr">
                      <a:solidFill>
                        <a:srgbClr val="4FA8E8"/>
                      </a:solidFill>
                      <a:prstDash val="solid"/>
                      <a:round/>
                      <a:headEnd type="none" w="med" len="med"/>
                      <a:tailEnd type="none" w="med" len="med"/>
                    </a:lnR>
                    <a:lnT w="6350" cap="flat" cmpd="sng" algn="ctr">
                      <a:solidFill>
                        <a:srgbClr val="4FA8E8"/>
                      </a:solidFill>
                      <a:prstDash val="solid"/>
                      <a:round/>
                      <a:headEnd type="none" w="med" len="med"/>
                      <a:tailEnd type="none" w="med" len="med"/>
                    </a:lnT>
                    <a:lnB w="6350" cap="flat" cmpd="sng" algn="ctr">
                      <a:solidFill>
                        <a:srgbClr val="4FA8E8"/>
                      </a:solidFill>
                      <a:prstDash val="solid"/>
                      <a:round/>
                      <a:headEnd type="none" w="med" len="med"/>
                      <a:tailEnd type="none" w="med" len="med"/>
                    </a:lnB>
                    <a:solidFill>
                      <a:srgbClr val="1A56AE"/>
                    </a:solidFill>
                  </a:tcPr>
                </a:tc>
              </a:tr>
              <a:tr h="329184">
                <a:tc>
                  <a:txBody>
                    <a:bodyPr/>
                    <a:lstStyle/>
                    <a:p>
                      <a:pPr indent="0" marL="0">
                        <a:buNone/>
                      </a:pPr>
                      <a:r>
                        <a:rPr lang="en-US" sz="1050" dirty="0">
                          <a:solidFill>
                            <a:srgbClr val="D6E6FB"/>
                          </a:solidFill>
                          <a:latin typeface="Arial" pitchFamily="34" charset="0"/>
                          <a:ea typeface="Arial" pitchFamily="34" charset="-122"/>
                          <a:cs typeface="Arial" pitchFamily="34" charset="-120"/>
                        </a:rPr>
                        <a:t>Server Registration</a:t>
                      </a:r>
                      <a:endParaRPr lang="en-US" sz="1050" dirty="0">
                        <a:latin typeface="Arial" charset="0"/>
                        <a:ea typeface="Arial" charset="0"/>
                        <a:cs typeface="Arial" charset="0"/>
                      </a:endParaRPr>
                    </a:p>
                  </a:txBody>
                  <a:tcPr marL="76200" marR="76200" marT="38100" marB="38100" anchor="ctr">
                    <a:lnL w="6350" cap="flat" cmpd="sng" algn="ctr">
                      <a:solidFill>
                        <a:srgbClr val="4FA8E8"/>
                      </a:solidFill>
                      <a:prstDash val="solid"/>
                      <a:round/>
                      <a:headEnd type="none" w="med" len="med"/>
                      <a:tailEnd type="none" w="med" len="med"/>
                    </a:lnL>
                    <a:lnR w="6350" cap="flat" cmpd="sng" algn="ctr">
                      <a:solidFill>
                        <a:srgbClr val="4FA8E8"/>
                      </a:solidFill>
                      <a:prstDash val="solid"/>
                      <a:round/>
                      <a:headEnd type="none" w="med" len="med"/>
                      <a:tailEnd type="none" w="med" len="med"/>
                    </a:lnR>
                    <a:lnT w="6350" cap="flat" cmpd="sng" algn="ctr">
                      <a:solidFill>
                        <a:srgbClr val="4FA8E8"/>
                      </a:solidFill>
                      <a:prstDash val="solid"/>
                      <a:round/>
                      <a:headEnd type="none" w="med" len="med"/>
                      <a:tailEnd type="none" w="med" len="med"/>
                    </a:lnT>
                    <a:lnB w="6350" cap="flat" cmpd="sng" algn="ctr">
                      <a:solidFill>
                        <a:srgbClr val="4FA8E8"/>
                      </a:solidFill>
                      <a:prstDash val="solid"/>
                      <a:round/>
                      <a:headEnd type="none" w="med" len="med"/>
                      <a:tailEnd type="none" w="med" len="med"/>
                    </a:lnB>
                    <a:solidFill>
                      <a:srgbClr val="1A56AE"/>
                    </a:solidFill>
                  </a:tcPr>
                </a:tc>
                <a:tc>
                  <a:txBody>
                    <a:bodyPr/>
                    <a:lstStyle/>
                    <a:p>
                      <a:pPr indent="0" marL="0">
                        <a:buNone/>
                      </a:pPr>
                      <a:r>
                        <a:rPr lang="en-US" sz="1050" dirty="0">
                          <a:solidFill>
                            <a:srgbClr val="D6E6FB"/>
                          </a:solidFill>
                          <a:latin typeface="Arial" pitchFamily="34" charset="0"/>
                          <a:ea typeface="Arial" pitchFamily="34" charset="-122"/>
                          <a:cs typeface="Arial" pitchFamily="34" charset="-120"/>
                        </a:rPr>
                        <a:t>developer</a:t>
                      </a:r>
                      <a:endParaRPr lang="en-US" sz="1050" dirty="0">
                        <a:latin typeface="Arial" charset="0"/>
                        <a:ea typeface="Arial" charset="0"/>
                        <a:cs typeface="Arial" charset="0"/>
                      </a:endParaRPr>
                    </a:p>
                  </a:txBody>
                  <a:tcPr marL="76200" marR="76200" marT="38100" marB="38100" anchor="ctr">
                    <a:lnL w="6350" cap="flat" cmpd="sng" algn="ctr">
                      <a:solidFill>
                        <a:srgbClr val="4FA8E8"/>
                      </a:solidFill>
                      <a:prstDash val="solid"/>
                      <a:round/>
                      <a:headEnd type="none" w="med" len="med"/>
                      <a:tailEnd type="none" w="med" len="med"/>
                    </a:lnL>
                    <a:lnR w="6350" cap="flat" cmpd="sng" algn="ctr">
                      <a:solidFill>
                        <a:srgbClr val="4FA8E8"/>
                      </a:solidFill>
                      <a:prstDash val="solid"/>
                      <a:round/>
                      <a:headEnd type="none" w="med" len="med"/>
                      <a:tailEnd type="none" w="med" len="med"/>
                    </a:lnR>
                    <a:lnT w="6350" cap="flat" cmpd="sng" algn="ctr">
                      <a:solidFill>
                        <a:srgbClr val="4FA8E8"/>
                      </a:solidFill>
                      <a:prstDash val="solid"/>
                      <a:round/>
                      <a:headEnd type="none" w="med" len="med"/>
                      <a:tailEnd type="none" w="med" len="med"/>
                    </a:lnT>
                    <a:lnB w="6350" cap="flat" cmpd="sng" algn="ctr">
                      <a:solidFill>
                        <a:srgbClr val="4FA8E8"/>
                      </a:solidFill>
                      <a:prstDash val="solid"/>
                      <a:round/>
                      <a:headEnd type="none" w="med" len="med"/>
                      <a:tailEnd type="none" w="med" len="med"/>
                    </a:lnB>
                    <a:solidFill>
                      <a:srgbClr val="1A56AE"/>
                    </a:solidFill>
                  </a:tcPr>
                </a:tc>
                <a:tc>
                  <a:txBody>
                    <a:bodyPr/>
                    <a:lstStyle/>
                    <a:p>
                      <a:pPr indent="0" marL="0">
                        <a:buNone/>
                      </a:pPr>
                      <a:r>
                        <a:rPr lang="en-US" sz="1050" dirty="0">
                          <a:solidFill>
                            <a:srgbClr val="D6E6FB"/>
                          </a:solidFill>
                          <a:latin typeface="Arial" pitchFamily="34" charset="0"/>
                          <a:ea typeface="Arial" pitchFamily="34" charset="-122"/>
                          <a:cs typeface="Arial" pitchFamily="34" charset="-120"/>
                        </a:rPr>
                        <a:t>approved-downloader  (at :7801)</a:t>
                      </a:r>
                      <a:endParaRPr lang="en-US" sz="1050" dirty="0">
                        <a:latin typeface="Arial" charset="0"/>
                        <a:ea typeface="Arial" charset="0"/>
                        <a:cs typeface="Arial" charset="0"/>
                      </a:endParaRPr>
                    </a:p>
                  </a:txBody>
                  <a:tcPr marL="76200" marR="76200" marT="38100" marB="38100" anchor="ctr">
                    <a:lnL w="6350" cap="flat" cmpd="sng" algn="ctr">
                      <a:solidFill>
                        <a:srgbClr val="4FA8E8"/>
                      </a:solidFill>
                      <a:prstDash val="solid"/>
                      <a:round/>
                      <a:headEnd type="none" w="med" len="med"/>
                      <a:tailEnd type="none" w="med" len="med"/>
                    </a:lnL>
                    <a:lnR w="6350" cap="flat" cmpd="sng" algn="ctr">
                      <a:solidFill>
                        <a:srgbClr val="4FA8E8"/>
                      </a:solidFill>
                      <a:prstDash val="solid"/>
                      <a:round/>
                      <a:headEnd type="none" w="med" len="med"/>
                      <a:tailEnd type="none" w="med" len="med"/>
                    </a:lnR>
                    <a:lnT w="6350" cap="flat" cmpd="sng" algn="ctr">
                      <a:solidFill>
                        <a:srgbClr val="4FA8E8"/>
                      </a:solidFill>
                      <a:prstDash val="solid"/>
                      <a:round/>
                      <a:headEnd type="none" w="med" len="med"/>
                      <a:tailEnd type="none" w="med" len="med"/>
                    </a:lnT>
                    <a:lnB w="6350" cap="flat" cmpd="sng" algn="ctr">
                      <a:solidFill>
                        <a:srgbClr val="4FA8E8"/>
                      </a:solidFill>
                      <a:prstDash val="solid"/>
                      <a:round/>
                      <a:headEnd type="none" w="med" len="med"/>
                      <a:tailEnd type="none" w="med" len="med"/>
                    </a:lnB>
                    <a:solidFill>
                      <a:srgbClr val="1A56AE"/>
                    </a:solidFill>
                  </a:tcPr>
                </a:tc>
                <a:tc>
                  <a:txBody>
                    <a:bodyPr/>
                    <a:lstStyle/>
                    <a:p>
                      <a:pPr indent="0" marL="0">
                        <a:buNone/>
                      </a:pPr>
                      <a:r>
                        <a:rPr lang="en-US" sz="1050" dirty="0">
                          <a:solidFill>
                            <a:srgbClr val="D6E6FB"/>
                          </a:solidFill>
                          <a:latin typeface="Arial" pitchFamily="34" charset="0"/>
                          <a:ea typeface="Arial" pitchFamily="34" charset="-122"/>
                          <a:cs typeface="Arial" pitchFamily="34" charset="-120"/>
                        </a:rPr>
                        <a:t>DENY</a:t>
                      </a:r>
                      <a:endParaRPr lang="en-US" sz="1050" dirty="0">
                        <a:latin typeface="Arial" charset="0"/>
                        <a:ea typeface="Arial" charset="0"/>
                        <a:cs typeface="Arial" charset="0"/>
                      </a:endParaRPr>
                    </a:p>
                  </a:txBody>
                  <a:tcPr marL="76200" marR="76200" marT="38100" marB="38100" anchor="ctr">
                    <a:lnL w="6350" cap="flat" cmpd="sng" algn="ctr">
                      <a:solidFill>
                        <a:srgbClr val="4FA8E8"/>
                      </a:solidFill>
                      <a:prstDash val="solid"/>
                      <a:round/>
                      <a:headEnd type="none" w="med" len="med"/>
                      <a:tailEnd type="none" w="med" len="med"/>
                    </a:lnL>
                    <a:lnR w="6350" cap="flat" cmpd="sng" algn="ctr">
                      <a:solidFill>
                        <a:srgbClr val="4FA8E8"/>
                      </a:solidFill>
                      <a:prstDash val="solid"/>
                      <a:round/>
                      <a:headEnd type="none" w="med" len="med"/>
                      <a:tailEnd type="none" w="med" len="med"/>
                    </a:lnR>
                    <a:lnT w="6350" cap="flat" cmpd="sng" algn="ctr">
                      <a:solidFill>
                        <a:srgbClr val="4FA8E8"/>
                      </a:solidFill>
                      <a:prstDash val="solid"/>
                      <a:round/>
                      <a:headEnd type="none" w="med" len="med"/>
                      <a:tailEnd type="none" w="med" len="med"/>
                    </a:lnT>
                    <a:lnB w="6350" cap="flat" cmpd="sng" algn="ctr">
                      <a:solidFill>
                        <a:srgbClr val="4FA8E8"/>
                      </a:solidFill>
                      <a:prstDash val="solid"/>
                      <a:round/>
                      <a:headEnd type="none" w="med" len="med"/>
                      <a:tailEnd type="none" w="med" len="med"/>
                    </a:lnB>
                    <a:solidFill>
                      <a:srgbClr val="1A56AE"/>
                    </a:solidFill>
                  </a:tcPr>
                </a:tc>
              </a:tr>
              <a:tr h="329184">
                <a:tc>
                  <a:txBody>
                    <a:bodyPr/>
                    <a:lstStyle/>
                    <a:p>
                      <a:pPr indent="0" marL="0">
                        <a:buNone/>
                      </a:pPr>
                      <a:r>
                        <a:rPr lang="en-US" sz="1050" dirty="0">
                          <a:solidFill>
                            <a:srgbClr val="D6E6FB"/>
                          </a:solidFill>
                          <a:latin typeface="Arial" pitchFamily="34" charset="0"/>
                          <a:ea typeface="Arial" pitchFamily="34" charset="-122"/>
                          <a:cs typeface="Arial" pitchFamily="34" charset="-120"/>
                        </a:rPr>
                        <a:t>Server Registration</a:t>
                      </a:r>
                      <a:endParaRPr lang="en-US" sz="1050" dirty="0">
                        <a:latin typeface="Arial" charset="0"/>
                        <a:ea typeface="Arial" charset="0"/>
                        <a:cs typeface="Arial" charset="0"/>
                      </a:endParaRPr>
                    </a:p>
                  </a:txBody>
                  <a:tcPr marL="76200" marR="76200" marT="38100" marB="38100" anchor="ctr">
                    <a:lnL w="6350" cap="flat" cmpd="sng" algn="ctr">
                      <a:solidFill>
                        <a:srgbClr val="4FA8E8"/>
                      </a:solidFill>
                      <a:prstDash val="solid"/>
                      <a:round/>
                      <a:headEnd type="none" w="med" len="med"/>
                      <a:tailEnd type="none" w="med" len="med"/>
                    </a:lnL>
                    <a:lnR w="6350" cap="flat" cmpd="sng" algn="ctr">
                      <a:solidFill>
                        <a:srgbClr val="4FA8E8"/>
                      </a:solidFill>
                      <a:prstDash val="solid"/>
                      <a:round/>
                      <a:headEnd type="none" w="med" len="med"/>
                      <a:tailEnd type="none" w="med" len="med"/>
                    </a:lnR>
                    <a:lnT w="6350" cap="flat" cmpd="sng" algn="ctr">
                      <a:solidFill>
                        <a:srgbClr val="4FA8E8"/>
                      </a:solidFill>
                      <a:prstDash val="solid"/>
                      <a:round/>
                      <a:headEnd type="none" w="med" len="med"/>
                      <a:tailEnd type="none" w="med" len="med"/>
                    </a:lnT>
                    <a:lnB w="6350" cap="flat" cmpd="sng" algn="ctr">
                      <a:solidFill>
                        <a:srgbClr val="4FA8E8"/>
                      </a:solidFill>
                      <a:prstDash val="solid"/>
                      <a:round/>
                      <a:headEnd type="none" w="med" len="med"/>
                      <a:tailEnd type="none" w="med" len="med"/>
                    </a:lnB>
                    <a:solidFill>
                      <a:srgbClr val="1A56AE"/>
                    </a:solidFill>
                  </a:tcPr>
                </a:tc>
                <a:tc>
                  <a:txBody>
                    <a:bodyPr/>
                    <a:lstStyle/>
                    <a:p>
                      <a:pPr indent="0" marL="0">
                        <a:buNone/>
                      </a:pPr>
                      <a:r>
                        <a:rPr lang="en-US" sz="1050" dirty="0">
                          <a:solidFill>
                            <a:srgbClr val="D6E6FB"/>
                          </a:solidFill>
                          <a:latin typeface="Arial" pitchFamily="34" charset="0"/>
                          <a:ea typeface="Arial" pitchFamily="34" charset="-122"/>
                          <a:cs typeface="Arial" pitchFamily="34" charset="-120"/>
                        </a:rPr>
                        <a:t>developer</a:t>
                      </a:r>
                      <a:endParaRPr lang="en-US" sz="1050" dirty="0">
                        <a:latin typeface="Arial" charset="0"/>
                        <a:ea typeface="Arial" charset="0"/>
                        <a:cs typeface="Arial" charset="0"/>
                      </a:endParaRPr>
                    </a:p>
                  </a:txBody>
                  <a:tcPr marL="76200" marR="76200" marT="38100" marB="38100" anchor="ctr">
                    <a:lnL w="6350" cap="flat" cmpd="sng" algn="ctr">
                      <a:solidFill>
                        <a:srgbClr val="4FA8E8"/>
                      </a:solidFill>
                      <a:prstDash val="solid"/>
                      <a:round/>
                      <a:headEnd type="none" w="med" len="med"/>
                      <a:tailEnd type="none" w="med" len="med"/>
                    </a:lnL>
                    <a:lnR w="6350" cap="flat" cmpd="sng" algn="ctr">
                      <a:solidFill>
                        <a:srgbClr val="4FA8E8"/>
                      </a:solidFill>
                      <a:prstDash val="solid"/>
                      <a:round/>
                      <a:headEnd type="none" w="med" len="med"/>
                      <a:tailEnd type="none" w="med" len="med"/>
                    </a:lnR>
                    <a:lnT w="6350" cap="flat" cmpd="sng" algn="ctr">
                      <a:solidFill>
                        <a:srgbClr val="4FA8E8"/>
                      </a:solidFill>
                      <a:prstDash val="solid"/>
                      <a:round/>
                      <a:headEnd type="none" w="med" len="med"/>
                      <a:tailEnd type="none" w="med" len="med"/>
                    </a:lnT>
                    <a:lnB w="6350" cap="flat" cmpd="sng" algn="ctr">
                      <a:solidFill>
                        <a:srgbClr val="4FA8E8"/>
                      </a:solidFill>
                      <a:prstDash val="solid"/>
                      <a:round/>
                      <a:headEnd type="none" w="med" len="med"/>
                      <a:tailEnd type="none" w="med" len="med"/>
                    </a:lnB>
                    <a:solidFill>
                      <a:srgbClr val="1A56AE"/>
                    </a:solidFill>
                  </a:tcPr>
                </a:tc>
                <a:tc>
                  <a:txBody>
                    <a:bodyPr/>
                    <a:lstStyle/>
                    <a:p>
                      <a:pPr indent="0" marL="0">
                        <a:buNone/>
                      </a:pPr>
                      <a:r>
                        <a:rPr lang="en-US" sz="1050" dirty="0">
                          <a:solidFill>
                            <a:srgbClr val="D6E6FB"/>
                          </a:solidFill>
                          <a:latin typeface="Arial" pitchFamily="34" charset="0"/>
                          <a:ea typeface="Arial" pitchFamily="34" charset="-122"/>
                          <a:cs typeface="Arial" pitchFamily="34" charset="-120"/>
                        </a:rPr>
                        <a:t>approved-downloader  (at :7802)</a:t>
                      </a:r>
                      <a:endParaRPr lang="en-US" sz="1050" dirty="0">
                        <a:latin typeface="Arial" charset="0"/>
                        <a:ea typeface="Arial" charset="0"/>
                        <a:cs typeface="Arial" charset="0"/>
                      </a:endParaRPr>
                    </a:p>
                  </a:txBody>
                  <a:tcPr marL="76200" marR="76200" marT="38100" marB="38100" anchor="ctr">
                    <a:lnL w="6350" cap="flat" cmpd="sng" algn="ctr">
                      <a:solidFill>
                        <a:srgbClr val="4FA8E8"/>
                      </a:solidFill>
                      <a:prstDash val="solid"/>
                      <a:round/>
                      <a:headEnd type="none" w="med" len="med"/>
                      <a:tailEnd type="none" w="med" len="med"/>
                    </a:lnL>
                    <a:lnR w="6350" cap="flat" cmpd="sng" algn="ctr">
                      <a:solidFill>
                        <a:srgbClr val="4FA8E8"/>
                      </a:solidFill>
                      <a:prstDash val="solid"/>
                      <a:round/>
                      <a:headEnd type="none" w="med" len="med"/>
                      <a:tailEnd type="none" w="med" len="med"/>
                    </a:lnR>
                    <a:lnT w="6350" cap="flat" cmpd="sng" algn="ctr">
                      <a:solidFill>
                        <a:srgbClr val="4FA8E8"/>
                      </a:solidFill>
                      <a:prstDash val="solid"/>
                      <a:round/>
                      <a:headEnd type="none" w="med" len="med"/>
                      <a:tailEnd type="none" w="med" len="med"/>
                    </a:lnT>
                    <a:lnB w="6350" cap="flat" cmpd="sng" algn="ctr">
                      <a:solidFill>
                        <a:srgbClr val="4FA8E8"/>
                      </a:solidFill>
                      <a:prstDash val="solid"/>
                      <a:round/>
                      <a:headEnd type="none" w="med" len="med"/>
                      <a:tailEnd type="none" w="med" len="med"/>
                    </a:lnB>
                    <a:solidFill>
                      <a:srgbClr val="1A56AE"/>
                    </a:solidFill>
                  </a:tcPr>
                </a:tc>
                <a:tc>
                  <a:txBody>
                    <a:bodyPr/>
                    <a:lstStyle/>
                    <a:p>
                      <a:pPr indent="0" marL="0">
                        <a:buNone/>
                      </a:pPr>
                      <a:r>
                        <a:rPr lang="en-US" sz="1050" dirty="0">
                          <a:solidFill>
                            <a:srgbClr val="D6E6FB"/>
                          </a:solidFill>
                          <a:latin typeface="Arial" pitchFamily="34" charset="0"/>
                          <a:ea typeface="Arial" pitchFamily="34" charset="-122"/>
                          <a:cs typeface="Arial" pitchFamily="34" charset="-120"/>
                        </a:rPr>
                        <a:t>ALLOW</a:t>
                      </a:r>
                      <a:endParaRPr lang="en-US" sz="1050" dirty="0">
                        <a:latin typeface="Arial" charset="0"/>
                        <a:ea typeface="Arial" charset="0"/>
                        <a:cs typeface="Arial" charset="0"/>
                      </a:endParaRPr>
                    </a:p>
                  </a:txBody>
                  <a:tcPr marL="76200" marR="76200" marT="38100" marB="38100" anchor="ctr">
                    <a:lnL w="6350" cap="flat" cmpd="sng" algn="ctr">
                      <a:solidFill>
                        <a:srgbClr val="4FA8E8"/>
                      </a:solidFill>
                      <a:prstDash val="solid"/>
                      <a:round/>
                      <a:headEnd type="none" w="med" len="med"/>
                      <a:tailEnd type="none" w="med" len="med"/>
                    </a:lnL>
                    <a:lnR w="6350" cap="flat" cmpd="sng" algn="ctr">
                      <a:solidFill>
                        <a:srgbClr val="4FA8E8"/>
                      </a:solidFill>
                      <a:prstDash val="solid"/>
                      <a:round/>
                      <a:headEnd type="none" w="med" len="med"/>
                      <a:tailEnd type="none" w="med" len="med"/>
                    </a:lnR>
                    <a:lnT w="6350" cap="flat" cmpd="sng" algn="ctr">
                      <a:solidFill>
                        <a:srgbClr val="4FA8E8"/>
                      </a:solidFill>
                      <a:prstDash val="solid"/>
                      <a:round/>
                      <a:headEnd type="none" w="med" len="med"/>
                      <a:tailEnd type="none" w="med" len="med"/>
                    </a:lnT>
                    <a:lnB w="6350" cap="flat" cmpd="sng" algn="ctr">
                      <a:solidFill>
                        <a:srgbClr val="4FA8E8"/>
                      </a:solidFill>
                      <a:prstDash val="solid"/>
                      <a:round/>
                      <a:headEnd type="none" w="med" len="med"/>
                      <a:tailEnd type="none" w="med" len="med"/>
                    </a:lnB>
                    <a:solidFill>
                      <a:srgbClr val="1A56AE"/>
                    </a:solidFill>
                  </a:tcPr>
                </a:tc>
              </a:tr>
              <a:tr h="329184">
                <a:tc>
                  <a:txBody>
                    <a:bodyPr/>
                    <a:lstStyle/>
                    <a:p>
                      <a:pPr indent="0" marL="0">
                        <a:buNone/>
                      </a:pPr>
                      <a:r>
                        <a:rPr lang="en-US" sz="1050" dirty="0">
                          <a:solidFill>
                            <a:srgbClr val="D6E6FB"/>
                          </a:solidFill>
                          <a:latin typeface="Arial" pitchFamily="34" charset="0"/>
                          <a:ea typeface="Arial" pitchFamily="34" charset="-122"/>
                          <a:cs typeface="Arial" pitchFamily="34" charset="-120"/>
                        </a:rPr>
                        <a:t>Tool Invocation</a:t>
                      </a:r>
                      <a:endParaRPr lang="en-US" sz="1050" dirty="0">
                        <a:latin typeface="Arial" charset="0"/>
                        <a:ea typeface="Arial" charset="0"/>
                        <a:cs typeface="Arial" charset="0"/>
                      </a:endParaRPr>
                    </a:p>
                  </a:txBody>
                  <a:tcPr marL="76200" marR="76200" marT="38100" marB="38100" anchor="ctr">
                    <a:lnL w="6350" cap="flat" cmpd="sng" algn="ctr">
                      <a:solidFill>
                        <a:srgbClr val="4FA8E8"/>
                      </a:solidFill>
                      <a:prstDash val="solid"/>
                      <a:round/>
                      <a:headEnd type="none" w="med" len="med"/>
                      <a:tailEnd type="none" w="med" len="med"/>
                    </a:lnL>
                    <a:lnR w="6350" cap="flat" cmpd="sng" algn="ctr">
                      <a:solidFill>
                        <a:srgbClr val="4FA8E8"/>
                      </a:solidFill>
                      <a:prstDash val="solid"/>
                      <a:round/>
                      <a:headEnd type="none" w="med" len="med"/>
                      <a:tailEnd type="none" w="med" len="med"/>
                    </a:lnR>
                    <a:lnT w="6350" cap="flat" cmpd="sng" algn="ctr">
                      <a:solidFill>
                        <a:srgbClr val="4FA8E8"/>
                      </a:solidFill>
                      <a:prstDash val="solid"/>
                      <a:round/>
                      <a:headEnd type="none" w="med" len="med"/>
                      <a:tailEnd type="none" w="med" len="med"/>
                    </a:lnT>
                    <a:lnB w="6350" cap="flat" cmpd="sng" algn="ctr">
                      <a:solidFill>
                        <a:srgbClr val="4FA8E8"/>
                      </a:solidFill>
                      <a:prstDash val="solid"/>
                      <a:round/>
                      <a:headEnd type="none" w="med" len="med"/>
                      <a:tailEnd type="none" w="med" len="med"/>
                    </a:lnB>
                    <a:solidFill>
                      <a:srgbClr val="1A56AE"/>
                    </a:solidFill>
                  </a:tcPr>
                </a:tc>
                <a:tc>
                  <a:txBody>
                    <a:bodyPr/>
                    <a:lstStyle/>
                    <a:p>
                      <a:pPr indent="0" marL="0">
                        <a:buNone/>
                      </a:pPr>
                      <a:r>
                        <a:rPr lang="en-US" sz="1050" dirty="0">
                          <a:solidFill>
                            <a:srgbClr val="D6E6FB"/>
                          </a:solidFill>
                          <a:latin typeface="Arial" pitchFamily="34" charset="0"/>
                          <a:ea typeface="Arial" pitchFamily="34" charset="-122"/>
                          <a:cs typeface="Arial" pitchFamily="34" charset="-120"/>
                        </a:rPr>
                        <a:t>developer</a:t>
                      </a:r>
                      <a:endParaRPr lang="en-US" sz="1050" dirty="0">
                        <a:latin typeface="Arial" charset="0"/>
                        <a:ea typeface="Arial" charset="0"/>
                        <a:cs typeface="Arial" charset="0"/>
                      </a:endParaRPr>
                    </a:p>
                  </a:txBody>
                  <a:tcPr marL="76200" marR="76200" marT="38100" marB="38100" anchor="ctr">
                    <a:lnL w="6350" cap="flat" cmpd="sng" algn="ctr">
                      <a:solidFill>
                        <a:srgbClr val="4FA8E8"/>
                      </a:solidFill>
                      <a:prstDash val="solid"/>
                      <a:round/>
                      <a:headEnd type="none" w="med" len="med"/>
                      <a:tailEnd type="none" w="med" len="med"/>
                    </a:lnL>
                    <a:lnR w="6350" cap="flat" cmpd="sng" algn="ctr">
                      <a:solidFill>
                        <a:srgbClr val="4FA8E8"/>
                      </a:solidFill>
                      <a:prstDash val="solid"/>
                      <a:round/>
                      <a:headEnd type="none" w="med" len="med"/>
                      <a:tailEnd type="none" w="med" len="med"/>
                    </a:lnR>
                    <a:lnT w="6350" cap="flat" cmpd="sng" algn="ctr">
                      <a:solidFill>
                        <a:srgbClr val="4FA8E8"/>
                      </a:solidFill>
                      <a:prstDash val="solid"/>
                      <a:round/>
                      <a:headEnd type="none" w="med" len="med"/>
                      <a:tailEnd type="none" w="med" len="med"/>
                    </a:lnT>
                    <a:lnB w="6350" cap="flat" cmpd="sng" algn="ctr">
                      <a:solidFill>
                        <a:srgbClr val="4FA8E8"/>
                      </a:solidFill>
                      <a:prstDash val="solid"/>
                      <a:round/>
                      <a:headEnd type="none" w="med" len="med"/>
                      <a:tailEnd type="none" w="med" len="med"/>
                    </a:lnB>
                    <a:solidFill>
                      <a:srgbClr val="1A56AE"/>
                    </a:solidFill>
                  </a:tcPr>
                </a:tc>
                <a:tc>
                  <a:txBody>
                    <a:bodyPr/>
                    <a:lstStyle/>
                    <a:p>
                      <a:pPr indent="0" marL="0">
                        <a:buNone/>
                      </a:pPr>
                      <a:r>
                        <a:rPr lang="en-US" sz="1050" dirty="0">
                          <a:solidFill>
                            <a:srgbClr val="D6E6FB"/>
                          </a:solidFill>
                          <a:latin typeface="Arial" pitchFamily="34" charset="0"/>
                          <a:ea typeface="Arial" pitchFamily="34" charset="-122"/>
                          <a:cs typeface="Arial" pitchFamily="34" charset="-120"/>
                        </a:rPr>
                        <a:t>approved-downloader : npm_download</a:t>
                      </a:r>
                      <a:endParaRPr lang="en-US" sz="1050" dirty="0">
                        <a:latin typeface="Arial" charset="0"/>
                        <a:ea typeface="Arial" charset="0"/>
                        <a:cs typeface="Arial" charset="0"/>
                      </a:endParaRPr>
                    </a:p>
                  </a:txBody>
                  <a:tcPr marL="76200" marR="76200" marT="38100" marB="38100" anchor="ctr">
                    <a:lnL w="6350" cap="flat" cmpd="sng" algn="ctr">
                      <a:solidFill>
                        <a:srgbClr val="4FA8E8"/>
                      </a:solidFill>
                      <a:prstDash val="solid"/>
                      <a:round/>
                      <a:headEnd type="none" w="med" len="med"/>
                      <a:tailEnd type="none" w="med" len="med"/>
                    </a:lnL>
                    <a:lnR w="6350" cap="flat" cmpd="sng" algn="ctr">
                      <a:solidFill>
                        <a:srgbClr val="4FA8E8"/>
                      </a:solidFill>
                      <a:prstDash val="solid"/>
                      <a:round/>
                      <a:headEnd type="none" w="med" len="med"/>
                      <a:tailEnd type="none" w="med" len="med"/>
                    </a:lnR>
                    <a:lnT w="6350" cap="flat" cmpd="sng" algn="ctr">
                      <a:solidFill>
                        <a:srgbClr val="4FA8E8"/>
                      </a:solidFill>
                      <a:prstDash val="solid"/>
                      <a:round/>
                      <a:headEnd type="none" w="med" len="med"/>
                      <a:tailEnd type="none" w="med" len="med"/>
                    </a:lnT>
                    <a:lnB w="6350" cap="flat" cmpd="sng" algn="ctr">
                      <a:solidFill>
                        <a:srgbClr val="4FA8E8"/>
                      </a:solidFill>
                      <a:prstDash val="solid"/>
                      <a:round/>
                      <a:headEnd type="none" w="med" len="med"/>
                      <a:tailEnd type="none" w="med" len="med"/>
                    </a:lnB>
                    <a:solidFill>
                      <a:srgbClr val="1A56AE"/>
                    </a:solidFill>
                  </a:tcPr>
                </a:tc>
                <a:tc>
                  <a:txBody>
                    <a:bodyPr/>
                    <a:lstStyle/>
                    <a:p>
                      <a:pPr indent="0" marL="0">
                        <a:buNone/>
                      </a:pPr>
                      <a:r>
                        <a:rPr lang="en-US" sz="1050" dirty="0">
                          <a:solidFill>
                            <a:srgbClr val="D6E6FB"/>
                          </a:solidFill>
                          <a:latin typeface="Arial" pitchFamily="34" charset="0"/>
                          <a:ea typeface="Arial" pitchFamily="34" charset="-122"/>
                          <a:cs typeface="Arial" pitchFamily="34" charset="-120"/>
                        </a:rPr>
                        <a:t>ALLOW</a:t>
                      </a:r>
                      <a:endParaRPr lang="en-US" sz="1050" dirty="0">
                        <a:latin typeface="Arial" charset="0"/>
                        <a:ea typeface="Arial" charset="0"/>
                        <a:cs typeface="Arial" charset="0"/>
                      </a:endParaRPr>
                    </a:p>
                  </a:txBody>
                  <a:tcPr marL="76200" marR="76200" marT="38100" marB="38100" anchor="ctr">
                    <a:lnL w="6350" cap="flat" cmpd="sng" algn="ctr">
                      <a:solidFill>
                        <a:srgbClr val="4FA8E8"/>
                      </a:solidFill>
                      <a:prstDash val="solid"/>
                      <a:round/>
                      <a:headEnd type="none" w="med" len="med"/>
                      <a:tailEnd type="none" w="med" len="med"/>
                    </a:lnL>
                    <a:lnR w="6350" cap="flat" cmpd="sng" algn="ctr">
                      <a:solidFill>
                        <a:srgbClr val="4FA8E8"/>
                      </a:solidFill>
                      <a:prstDash val="solid"/>
                      <a:round/>
                      <a:headEnd type="none" w="med" len="med"/>
                      <a:tailEnd type="none" w="med" len="med"/>
                    </a:lnR>
                    <a:lnT w="6350" cap="flat" cmpd="sng" algn="ctr">
                      <a:solidFill>
                        <a:srgbClr val="4FA8E8"/>
                      </a:solidFill>
                      <a:prstDash val="solid"/>
                      <a:round/>
                      <a:headEnd type="none" w="med" len="med"/>
                      <a:tailEnd type="none" w="med" len="med"/>
                    </a:lnT>
                    <a:lnB w="6350" cap="flat" cmpd="sng" algn="ctr">
                      <a:solidFill>
                        <a:srgbClr val="4FA8E8"/>
                      </a:solidFill>
                      <a:prstDash val="solid"/>
                      <a:round/>
                      <a:headEnd type="none" w="med" len="med"/>
                      <a:tailEnd type="none" w="med" len="med"/>
                    </a:lnB>
                    <a:solidFill>
                      <a:srgbClr val="1A56AE"/>
                    </a:solidFill>
                  </a:tcPr>
                </a:tc>
              </a:tr>
              <a:tr h="329184">
                <a:tc>
                  <a:txBody>
                    <a:bodyPr/>
                    <a:lstStyle/>
                    <a:p>
                      <a:pPr indent="0" marL="0">
                        <a:buNone/>
                      </a:pPr>
                      <a:r>
                        <a:rPr lang="en-US" sz="1050" dirty="0">
                          <a:solidFill>
                            <a:srgbClr val="D6E6FB"/>
                          </a:solidFill>
                          <a:latin typeface="Arial" pitchFamily="34" charset="0"/>
                          <a:ea typeface="Arial" pitchFamily="34" charset="-122"/>
                          <a:cs typeface="Arial" pitchFamily="34" charset="-120"/>
                        </a:rPr>
                        <a:t>Tool Invocation</a:t>
                      </a:r>
                      <a:endParaRPr lang="en-US" sz="1050" dirty="0">
                        <a:latin typeface="Arial" charset="0"/>
                        <a:ea typeface="Arial" charset="0"/>
                        <a:cs typeface="Arial" charset="0"/>
                      </a:endParaRPr>
                    </a:p>
                  </a:txBody>
                  <a:tcPr marL="76200" marR="76200" marT="38100" marB="38100" anchor="ctr">
                    <a:lnL w="6350" cap="flat" cmpd="sng" algn="ctr">
                      <a:solidFill>
                        <a:srgbClr val="4FA8E8"/>
                      </a:solidFill>
                      <a:prstDash val="solid"/>
                      <a:round/>
                      <a:headEnd type="none" w="med" len="med"/>
                      <a:tailEnd type="none" w="med" len="med"/>
                    </a:lnL>
                    <a:lnR w="6350" cap="flat" cmpd="sng" algn="ctr">
                      <a:solidFill>
                        <a:srgbClr val="4FA8E8"/>
                      </a:solidFill>
                      <a:prstDash val="solid"/>
                      <a:round/>
                      <a:headEnd type="none" w="med" len="med"/>
                      <a:tailEnd type="none" w="med" len="med"/>
                    </a:lnR>
                    <a:lnT w="6350" cap="flat" cmpd="sng" algn="ctr">
                      <a:solidFill>
                        <a:srgbClr val="4FA8E8"/>
                      </a:solidFill>
                      <a:prstDash val="solid"/>
                      <a:round/>
                      <a:headEnd type="none" w="med" len="med"/>
                      <a:tailEnd type="none" w="med" len="med"/>
                    </a:lnT>
                    <a:lnB w="6350" cap="flat" cmpd="sng" algn="ctr">
                      <a:solidFill>
                        <a:srgbClr val="4FA8E8"/>
                      </a:solidFill>
                      <a:prstDash val="solid"/>
                      <a:round/>
                      <a:headEnd type="none" w="med" len="med"/>
                      <a:tailEnd type="none" w="med" len="med"/>
                    </a:lnB>
                    <a:solidFill>
                      <a:srgbClr val="1A56AE"/>
                    </a:solidFill>
                  </a:tcPr>
                </a:tc>
                <a:tc>
                  <a:txBody>
                    <a:bodyPr/>
                    <a:lstStyle/>
                    <a:p>
                      <a:pPr indent="0" marL="0">
                        <a:buNone/>
                      </a:pPr>
                      <a:r>
                        <a:rPr lang="en-US" sz="1050" dirty="0">
                          <a:solidFill>
                            <a:srgbClr val="D6E6FB"/>
                          </a:solidFill>
                          <a:latin typeface="Arial" pitchFamily="34" charset="0"/>
                          <a:ea typeface="Arial" pitchFamily="34" charset="-122"/>
                          <a:cs typeface="Arial" pitchFamily="34" charset="-120"/>
                        </a:rPr>
                        <a:t>developer</a:t>
                      </a:r>
                      <a:endParaRPr lang="en-US" sz="1050" dirty="0">
                        <a:latin typeface="Arial" charset="0"/>
                        <a:ea typeface="Arial" charset="0"/>
                        <a:cs typeface="Arial" charset="0"/>
                      </a:endParaRPr>
                    </a:p>
                  </a:txBody>
                  <a:tcPr marL="76200" marR="76200" marT="38100" marB="38100" anchor="ctr">
                    <a:lnL w="6350" cap="flat" cmpd="sng" algn="ctr">
                      <a:solidFill>
                        <a:srgbClr val="4FA8E8"/>
                      </a:solidFill>
                      <a:prstDash val="solid"/>
                      <a:round/>
                      <a:headEnd type="none" w="med" len="med"/>
                      <a:tailEnd type="none" w="med" len="med"/>
                    </a:lnL>
                    <a:lnR w="6350" cap="flat" cmpd="sng" algn="ctr">
                      <a:solidFill>
                        <a:srgbClr val="4FA8E8"/>
                      </a:solidFill>
                      <a:prstDash val="solid"/>
                      <a:round/>
                      <a:headEnd type="none" w="med" len="med"/>
                      <a:tailEnd type="none" w="med" len="med"/>
                    </a:lnR>
                    <a:lnT w="6350" cap="flat" cmpd="sng" algn="ctr">
                      <a:solidFill>
                        <a:srgbClr val="4FA8E8"/>
                      </a:solidFill>
                      <a:prstDash val="solid"/>
                      <a:round/>
                      <a:headEnd type="none" w="med" len="med"/>
                      <a:tailEnd type="none" w="med" len="med"/>
                    </a:lnT>
                    <a:lnB w="6350" cap="flat" cmpd="sng" algn="ctr">
                      <a:solidFill>
                        <a:srgbClr val="4FA8E8"/>
                      </a:solidFill>
                      <a:prstDash val="solid"/>
                      <a:round/>
                      <a:headEnd type="none" w="med" len="med"/>
                      <a:tailEnd type="none" w="med" len="med"/>
                    </a:lnB>
                    <a:solidFill>
                      <a:srgbClr val="1A56AE"/>
                    </a:solidFill>
                  </a:tcPr>
                </a:tc>
                <a:tc>
                  <a:txBody>
                    <a:bodyPr/>
                    <a:lstStyle/>
                    <a:p>
                      <a:pPr indent="0" marL="0">
                        <a:buNone/>
                      </a:pPr>
                      <a:r>
                        <a:rPr lang="en-US" sz="1050" dirty="0">
                          <a:solidFill>
                            <a:srgbClr val="D6E6FB"/>
                          </a:solidFill>
                          <a:latin typeface="Arial" pitchFamily="34" charset="0"/>
                          <a:ea typeface="Arial" pitchFamily="34" charset="-122"/>
                          <a:cs typeface="Arial" pitchFamily="34" charset="-120"/>
                        </a:rPr>
                        <a:t>mcp-add  (poisoned-demo)</a:t>
                      </a:r>
                      <a:endParaRPr lang="en-US" sz="1050" dirty="0">
                        <a:latin typeface="Arial" charset="0"/>
                        <a:ea typeface="Arial" charset="0"/>
                        <a:cs typeface="Arial" charset="0"/>
                      </a:endParaRPr>
                    </a:p>
                  </a:txBody>
                  <a:tcPr marL="76200" marR="76200" marT="38100" marB="38100" anchor="ctr">
                    <a:lnL w="6350" cap="flat" cmpd="sng" algn="ctr">
                      <a:solidFill>
                        <a:srgbClr val="4FA8E8"/>
                      </a:solidFill>
                      <a:prstDash val="solid"/>
                      <a:round/>
                      <a:headEnd type="none" w="med" len="med"/>
                      <a:tailEnd type="none" w="med" len="med"/>
                    </a:lnL>
                    <a:lnR w="6350" cap="flat" cmpd="sng" algn="ctr">
                      <a:solidFill>
                        <a:srgbClr val="4FA8E8"/>
                      </a:solidFill>
                      <a:prstDash val="solid"/>
                      <a:round/>
                      <a:headEnd type="none" w="med" len="med"/>
                      <a:tailEnd type="none" w="med" len="med"/>
                    </a:lnR>
                    <a:lnT w="6350" cap="flat" cmpd="sng" algn="ctr">
                      <a:solidFill>
                        <a:srgbClr val="4FA8E8"/>
                      </a:solidFill>
                      <a:prstDash val="solid"/>
                      <a:round/>
                      <a:headEnd type="none" w="med" len="med"/>
                      <a:tailEnd type="none" w="med" len="med"/>
                    </a:lnT>
                    <a:lnB w="6350" cap="flat" cmpd="sng" algn="ctr">
                      <a:solidFill>
                        <a:srgbClr val="4FA8E8"/>
                      </a:solidFill>
                      <a:prstDash val="solid"/>
                      <a:round/>
                      <a:headEnd type="none" w="med" len="med"/>
                      <a:tailEnd type="none" w="med" len="med"/>
                    </a:lnB>
                    <a:solidFill>
                      <a:srgbClr val="1A56AE"/>
                    </a:solidFill>
                  </a:tcPr>
                </a:tc>
                <a:tc>
                  <a:txBody>
                    <a:bodyPr/>
                    <a:lstStyle/>
                    <a:p>
                      <a:pPr indent="0" marL="0">
                        <a:buNone/>
                      </a:pPr>
                      <a:r>
                        <a:rPr lang="en-US" sz="1050" dirty="0">
                          <a:solidFill>
                            <a:srgbClr val="D6E6FB"/>
                          </a:solidFill>
                          <a:latin typeface="Arial" pitchFamily="34" charset="0"/>
                          <a:ea typeface="Arial" pitchFamily="34" charset="-122"/>
                          <a:cs typeface="Arial" pitchFamily="34" charset="-120"/>
                        </a:rPr>
                        <a:t>DENY</a:t>
                      </a:r>
                      <a:endParaRPr lang="en-US" sz="1050" dirty="0">
                        <a:latin typeface="Arial" charset="0"/>
                        <a:ea typeface="Arial" charset="0"/>
                        <a:cs typeface="Arial" charset="0"/>
                      </a:endParaRPr>
                    </a:p>
                  </a:txBody>
                  <a:tcPr marL="76200" marR="76200" marT="38100" marB="38100" anchor="ctr">
                    <a:lnL w="6350" cap="flat" cmpd="sng" algn="ctr">
                      <a:solidFill>
                        <a:srgbClr val="4FA8E8"/>
                      </a:solidFill>
                      <a:prstDash val="solid"/>
                      <a:round/>
                      <a:headEnd type="none" w="med" len="med"/>
                      <a:tailEnd type="none" w="med" len="med"/>
                    </a:lnL>
                    <a:lnR w="6350" cap="flat" cmpd="sng" algn="ctr">
                      <a:solidFill>
                        <a:srgbClr val="4FA8E8"/>
                      </a:solidFill>
                      <a:prstDash val="solid"/>
                      <a:round/>
                      <a:headEnd type="none" w="med" len="med"/>
                      <a:tailEnd type="none" w="med" len="med"/>
                    </a:lnR>
                    <a:lnT w="6350" cap="flat" cmpd="sng" algn="ctr">
                      <a:solidFill>
                        <a:srgbClr val="4FA8E8"/>
                      </a:solidFill>
                      <a:prstDash val="solid"/>
                      <a:round/>
                      <a:headEnd type="none" w="med" len="med"/>
                      <a:tailEnd type="none" w="med" len="med"/>
                    </a:lnT>
                    <a:lnB w="6350" cap="flat" cmpd="sng" algn="ctr">
                      <a:solidFill>
                        <a:srgbClr val="4FA8E8"/>
                      </a:solidFill>
                      <a:prstDash val="solid"/>
                      <a:round/>
                      <a:headEnd type="none" w="med" len="med"/>
                      <a:tailEnd type="none" w="med" len="med"/>
                    </a:lnB>
                    <a:solidFill>
                      <a:srgbClr val="1A56AE"/>
                    </a:solidFill>
                  </a:tcPr>
                </a:tc>
              </a:tr>
            </a:tbl>
          </a:graphicData>
        </a:graphic>
      </p:graphicFrame>
      <p:sp>
        <p:nvSpPr>
          <p:cNvPr id="7" name="Text 4"/>
          <p:cNvSpPr/>
          <p:nvPr/>
        </p:nvSpPr>
        <p:spPr>
          <a:xfrm>
            <a:off x="777240" y="4343400"/>
            <a:ext cx="5486400" cy="1828800"/>
          </a:xfrm>
          <a:prstGeom prst="rect">
            <a:avLst/>
          </a:prstGeom>
          <a:noFill/>
          <a:ln/>
        </p:spPr>
        <p:txBody>
          <a:bodyPr wrap="square" lIns="0" tIns="0" rIns="0" bIns="0" rtlCol="0" anchor="t"/>
          <a:lstStyle/>
          <a:p>
            <a:pPr marL="177800" indent="-177800">
              <a:buSzPct val="100000"/>
              <a:buChar char="•"/>
            </a:pPr>
            <a:r>
              <a:rPr lang="en-US" sz="1200" b="1" dirty="0">
                <a:solidFill>
                  <a:srgbClr val="FFFFFF"/>
                </a:solidFill>
                <a:latin typeface="Arial" pitchFamily="34" charset="0"/>
                <a:ea typeface="Arial" pitchFamily="34" charset="-122"/>
                <a:cs typeface="Arial" pitchFamily="34" charset="-120"/>
              </a:rPr>
              <a:t>Registration plane:</a:t>
            </a:r>
            <a:pPr indent="0" marL="0">
              <a:spcAft>
                <a:spcPts val="500"/>
              </a:spcAft>
              <a:buNone/>
            </a:pPr>
            <a:r>
              <a:rPr lang="en-US" sz="1200" dirty="0">
                <a:solidFill>
                  <a:srgbClr val="D6E6FB"/>
                </a:solidFill>
                <a:latin typeface="Arial" pitchFamily="34" charset="0"/>
                <a:ea typeface="Arial" pitchFamily="34" charset="-122"/>
                <a:cs typeface="Arial" pitchFamily="34" charset="-120"/>
              </a:rPr>
              <a:t> who tried to bring which server in, and the verdict.</a:t>
            </a:r>
            <a:endParaRPr lang="en-US" sz="1200" dirty="0"/>
          </a:p>
          <a:p>
            <a:pPr marL="177800" indent="-177800">
              <a:buSzPct val="100000"/>
              <a:buChar char="•"/>
            </a:pPr>
            <a:r>
              <a:rPr lang="en-US" sz="1200" b="1" dirty="0">
                <a:solidFill>
                  <a:srgbClr val="FFFFFF"/>
                </a:solidFill>
                <a:latin typeface="Arial" pitchFamily="34" charset="0"/>
                <a:ea typeface="Arial" pitchFamily="34" charset="-122"/>
                <a:cs typeface="Arial" pitchFamily="34" charset="-120"/>
              </a:rPr>
              <a:t>Tool-invocation plane:</a:t>
            </a:r>
            <a:pPr indent="0" marL="0">
              <a:spcAft>
                <a:spcPts val="500"/>
              </a:spcAft>
              <a:buNone/>
            </a:pPr>
            <a:r>
              <a:rPr lang="en-US" sz="1200" dirty="0">
                <a:solidFill>
                  <a:srgbClr val="D6E6FB"/>
                </a:solidFill>
                <a:latin typeface="Arial" pitchFamily="34" charset="0"/>
                <a:ea typeface="Arial" pitchFamily="34" charset="-122"/>
                <a:cs typeface="Arial" pitchFamily="34" charset="-120"/>
              </a:rPr>
              <a:t> what the agent actually called through the gateway.</a:t>
            </a:r>
            <a:endParaRPr lang="en-US" sz="1200" dirty="0"/>
          </a:p>
          <a:p>
            <a:pPr marL="177800" indent="-177800">
              <a:buSzPct val="100000"/>
              <a:buChar char="•"/>
            </a:pPr>
            <a:r>
              <a:rPr lang="en-US" sz="1200" b="1" dirty="0">
                <a:solidFill>
                  <a:srgbClr val="FFFFFF"/>
                </a:solidFill>
                <a:latin typeface="Arial" pitchFamily="34" charset="0"/>
                <a:ea typeface="Arial" pitchFamily="34" charset="-122"/>
                <a:cs typeface="Arial" pitchFamily="34" charset="-120"/>
              </a:rPr>
              <a:t>Metadata only:</a:t>
            </a:r>
            <a:pPr indent="0" marL="0">
              <a:spcAft>
                <a:spcPts val="500"/>
              </a:spcAft>
              <a:buNone/>
            </a:pPr>
            <a:r>
              <a:rPr lang="en-US" sz="1200" dirty="0">
                <a:solidFill>
                  <a:srgbClr val="D6E6FB"/>
                </a:solidFill>
                <a:latin typeface="Arial" pitchFamily="34" charset="0"/>
                <a:ea typeface="Arial" pitchFamily="34" charset="-122"/>
                <a:cs typeface="Arial" pitchFamily="34" charset="-120"/>
              </a:rPr>
              <a:t> decision, principal, resource, deny reason. No prompt or parameter content.</a:t>
            </a:r>
            <a:endParaRPr lang="en-US" sz="1200" dirty="0"/>
          </a:p>
          <a:p>
            <a:pPr marL="177800" indent="-177800">
              <a:buSzPct val="100000"/>
              <a:buChar char="•"/>
            </a:pPr>
            <a:r>
              <a:rPr lang="en-US" sz="1200" b="1" dirty="0">
                <a:solidFill>
                  <a:srgbClr val="FFFFFF"/>
                </a:solidFill>
                <a:latin typeface="Arial" pitchFamily="34" charset="0"/>
                <a:ea typeface="Arial" pitchFamily="34" charset="-122"/>
                <a:cs typeface="Arial" pitchFamily="34" charset="-120"/>
              </a:rPr>
              <a:t>Exportable</a:t>
            </a:r>
            <a:pPr indent="0" marL="0">
              <a:spcAft>
                <a:spcPts val="500"/>
              </a:spcAft>
              <a:buNone/>
            </a:pPr>
            <a:r>
              <a:rPr lang="en-US" sz="1200" dirty="0">
                <a:solidFill>
                  <a:srgbClr val="D6E6FB"/>
                </a:solidFill>
                <a:latin typeface="Arial" pitchFamily="34" charset="0"/>
                <a:ea typeface="Arial" pitchFamily="34" charset="-122"/>
                <a:cs typeface="Arial" pitchFamily="34" charset="-120"/>
              </a:rPr>
              <a:t> to CSV, JSON Lines, and your SIEM.</a:t>
            </a:r>
            <a:endParaRPr lang="en-US" sz="1200" dirty="0"/>
          </a:p>
        </p:txBody>
      </p:sp>
      <p:sp>
        <p:nvSpPr>
          <p:cNvPr id="8" name="Shape 5"/>
          <p:cNvSpPr/>
          <p:nvPr/>
        </p:nvSpPr>
        <p:spPr>
          <a:xfrm>
            <a:off x="6675120" y="1691640"/>
            <a:ext cx="4983480" cy="4434840"/>
          </a:xfrm>
          <a:prstGeom prst="roundRect">
            <a:avLst>
              <a:gd name="adj" fmla="val 1856"/>
            </a:avLst>
          </a:prstGeom>
          <a:solidFill>
            <a:srgbClr val="061B44">
              <a:alpha val="80000"/>
            </a:srgbClr>
          </a:solidFill>
          <a:ln w="12700">
            <a:solidFill>
              <a:srgbClr val="4FA8E8"/>
            </a:solidFill>
            <a:prstDash val="dash"/>
          </a:ln>
          <a:effectLst>
            <a:outerShdw sx="100000" sy="100000" kx="0" ky="0" algn="bl" rotWithShape="0" blurRad="127000" dist="50800" dir="16200000">
              <a:srgbClr val="4FC8FF">
                <a:alpha val="38000"/>
              </a:srgbClr>
            </a:outerShdw>
          </a:effectLst>
        </p:spPr>
      </p:sp>
      <p:sp>
        <p:nvSpPr>
          <p:cNvPr id="9" name="Shape 6"/>
          <p:cNvSpPr/>
          <p:nvPr/>
        </p:nvSpPr>
        <p:spPr>
          <a:xfrm>
            <a:off x="8755380" y="2743200"/>
            <a:ext cx="822960" cy="822960"/>
          </a:xfrm>
          <a:prstGeom prst="roundRect">
            <a:avLst>
              <a:gd name="adj" fmla="val 15556"/>
            </a:avLst>
          </a:prstGeom>
          <a:solidFill>
            <a:srgbClr val="1A56AE">
              <a:alpha val="90000"/>
            </a:srgbClr>
          </a:solidFill>
          <a:ln w="19050">
            <a:solidFill>
              <a:srgbClr val="5FC8FF"/>
            </a:solidFill>
            <a:prstDash val="solid"/>
          </a:ln>
          <a:effectLst>
            <a:outerShdw sx="100000" sy="100000" kx="0" ky="0" algn="bl" rotWithShape="0" blurRad="203200" dist="50800" dir="16200000">
              <a:srgbClr val="4FC8FF">
                <a:alpha val="58000"/>
              </a:srgbClr>
            </a:outerShdw>
          </a:effectLst>
        </p:spPr>
      </p:sp>
      <p:pic>
        <p:nvPicPr>
          <p:cNvPr id="10" name="Image 0" descr="/Users/mark.maxwelldocker.com/sandboxes/WADMCPDemo/slides/deck-src/assets/ic_policy.png">    </p:cNvPr>
          <p:cNvPicPr>
            <a:picLocks noChangeAspect="1"/>
          </p:cNvPicPr>
          <p:nvPr/>
        </p:nvPicPr>
        <p:blipFill>
          <a:blip r:embed="rId2"/>
          <a:stretch>
            <a:fillRect/>
          </a:stretch>
        </p:blipFill>
        <p:spPr>
          <a:xfrm>
            <a:off x="8977579" y="2965399"/>
            <a:ext cx="378562" cy="378562"/>
          </a:xfrm>
          <a:prstGeom prst="rect">
            <a:avLst/>
          </a:prstGeom>
        </p:spPr>
      </p:pic>
      <p:sp>
        <p:nvSpPr>
          <p:cNvPr id="11" name="Text 7"/>
          <p:cNvSpPr/>
          <p:nvPr/>
        </p:nvSpPr>
        <p:spPr>
          <a:xfrm>
            <a:off x="6858000" y="3749040"/>
            <a:ext cx="4617720" cy="457200"/>
          </a:xfrm>
          <a:prstGeom prst="rect">
            <a:avLst/>
          </a:prstGeom>
          <a:noFill/>
          <a:ln/>
        </p:spPr>
        <p:txBody>
          <a:bodyPr wrap="square" lIns="0" tIns="0" rIns="0" bIns="0" rtlCol="0" anchor="t"/>
          <a:lstStyle/>
          <a:p>
            <a:pPr algn="ctr" indent="0" marL="0">
              <a:buNone/>
            </a:pPr>
            <a:r>
              <a:rPr lang="en-US" sz="1400" b="1" dirty="0">
                <a:solidFill>
                  <a:srgbClr val="FFFFFF"/>
                </a:solidFill>
                <a:latin typeface="Arial" pitchFamily="34" charset="0"/>
                <a:ea typeface="Arial" pitchFamily="34" charset="-122"/>
                <a:cs typeface="Arial" pitchFamily="34" charset="-120"/>
              </a:rPr>
              <a:t>Paste your Docker Home audit-log screenshot here</a:t>
            </a:r>
            <a:endParaRPr lang="en-US" sz="1400" dirty="0"/>
          </a:p>
        </p:txBody>
      </p:sp>
      <p:sp>
        <p:nvSpPr>
          <p:cNvPr id="12" name="Text 8"/>
          <p:cNvSpPr/>
          <p:nvPr/>
        </p:nvSpPr>
        <p:spPr>
          <a:xfrm>
            <a:off x="6858000" y="4251960"/>
            <a:ext cx="4617720" cy="822960"/>
          </a:xfrm>
          <a:prstGeom prst="rect">
            <a:avLst/>
          </a:prstGeom>
          <a:noFill/>
          <a:ln/>
        </p:spPr>
        <p:txBody>
          <a:bodyPr wrap="square" lIns="0" tIns="0" rIns="0" bIns="0" rtlCol="0" anchor="t"/>
          <a:lstStyle/>
          <a:p>
            <a:pPr algn="ctr" indent="0" marL="0">
              <a:buNone/>
            </a:pPr>
            <a:r>
              <a:rPr lang="en-US" sz="1100" dirty="0">
                <a:solidFill>
                  <a:srgbClr val="BFE6FF"/>
                </a:solidFill>
                <a:latin typeface="Arial" pitchFamily="34" charset="0"/>
                <a:ea typeface="Arial" pitchFamily="34" charset="-122"/>
                <a:cs typeface="Arial" pitchFamily="34" charset="-120"/>
              </a:rPr>
              <a:t>Owner login only. Filter: Event type = Server Registration, then Tool Invocation.</a:t>
            </a:r>
            <a:endParaRPr lang="en-US" sz="1100" dirty="0"/>
          </a:p>
          <a:p>
            <a:pPr algn="ctr" indent="0" marL="0">
              <a:buNone/>
            </a:pPr>
            <a:r>
              <a:rPr lang="en-US" sz="1100" dirty="0">
                <a:solidFill>
                  <a:srgbClr val="BFE6FF"/>
                </a:solidFill>
                <a:latin typeface="Arial" pitchFamily="34" charset="0"/>
                <a:ea typeface="Arial" pitchFamily="34" charset="-122"/>
                <a:cs typeface="Arial" pitchFamily="34" charset="-120"/>
              </a:rPr>
              <a:t>Pre-open both views before the talk.</a:t>
            </a:r>
            <a:endParaRPr lang="en-US" sz="1100" dirty="0"/>
          </a:p>
        </p:txBody>
      </p:sp>
      <p:pic>
        <p:nvPicPr>
          <p:cNvPr id="13" name="Image 1" descr="/Users/mark.maxwelldocker.com/sandboxes/WADMCPDemo/slides/deck-src/assets/docker_logo.png">    </p:cNvPr>
          <p:cNvPicPr>
            <a:picLocks noChangeAspect="1"/>
          </p:cNvPicPr>
          <p:nvPr/>
        </p:nvPicPr>
        <p:blipFill>
          <a:blip r:embed="rId3"/>
          <a:stretch>
            <a:fillRect/>
          </a:stretch>
        </p:blipFill>
        <p:spPr>
          <a:xfrm>
            <a:off x="10378440" y="6382512"/>
            <a:ext cx="1371600" cy="31089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66928" y="384048"/>
            <a:ext cx="7315200" cy="256032"/>
          </a:xfrm>
          <a:prstGeom prst="rect">
            <a:avLst/>
          </a:prstGeom>
          <a:noFill/>
          <a:ln/>
        </p:spPr>
        <p:txBody>
          <a:bodyPr wrap="square" lIns="0" tIns="0" rIns="0" bIns="0" rtlCol="0" anchor="ctr"/>
          <a:lstStyle/>
          <a:p>
            <a:pPr indent="0" marL="0">
              <a:buNone/>
            </a:pPr>
            <a:r>
              <a:rPr lang="en-US" sz="1250" b="1" spc="150" kern="0" dirty="0">
                <a:solidFill>
                  <a:srgbClr val="5FC8FF"/>
                </a:solidFill>
                <a:latin typeface="Arial" pitchFamily="34" charset="0"/>
                <a:ea typeface="Arial" pitchFamily="34" charset="-122"/>
                <a:cs typeface="Arial" pitchFamily="34" charset="-120"/>
              </a:rPr>
              <a:t>WRAP · ~30 SECONDS</a:t>
            </a:r>
            <a:endParaRPr lang="en-US" sz="1250" dirty="0"/>
          </a:p>
        </p:txBody>
      </p:sp>
      <p:sp>
        <p:nvSpPr>
          <p:cNvPr id="3" name="Text 1"/>
          <p:cNvSpPr/>
          <p:nvPr/>
        </p:nvSpPr>
        <p:spPr>
          <a:xfrm>
            <a:off x="548640" y="621792"/>
            <a:ext cx="11064240" cy="640080"/>
          </a:xfrm>
          <a:prstGeom prst="rect">
            <a:avLst/>
          </a:prstGeom>
          <a:noFill/>
          <a:ln/>
        </p:spPr>
        <p:txBody>
          <a:bodyPr wrap="square" lIns="0" tIns="0" rIns="0" bIns="0" rtlCol="0" anchor="ctr"/>
          <a:lstStyle/>
          <a:p>
            <a:pPr indent="0" marL="0">
              <a:buNone/>
            </a:pPr>
            <a:r>
              <a:rPr lang="en-US" sz="2700" b="1" dirty="0">
                <a:solidFill>
                  <a:srgbClr val="FFFFFF"/>
                </a:solidFill>
                <a:latin typeface="Arial" pitchFamily="34" charset="0"/>
                <a:ea typeface="Arial" pitchFamily="34" charset="-122"/>
                <a:cs typeface="Arial" pitchFamily="34" charset="-120"/>
              </a:rPr>
              <a:t>Four attack classes, </a:t>
            </a:r>
            <a:pPr indent="0" marL="0">
              <a:buNone/>
            </a:pPr>
            <a:r>
              <a:rPr lang="en-US" sz="2700" b="1" dirty="0">
                <a:solidFill>
                  <a:srgbClr val="5FC8FF"/>
                </a:solidFill>
                <a:latin typeface="Arial" pitchFamily="34" charset="0"/>
                <a:ea typeface="Arial" pitchFamily="34" charset="-122"/>
                <a:cs typeface="Arial" pitchFamily="34" charset="-120"/>
              </a:rPr>
              <a:t>one identity-pinned model</a:t>
            </a:r>
            <a:endParaRPr lang="en-US" sz="2700" dirty="0"/>
          </a:p>
        </p:txBody>
      </p:sp>
      <p:sp>
        <p:nvSpPr>
          <p:cNvPr id="4" name="Text 2"/>
          <p:cNvSpPr/>
          <p:nvPr/>
        </p:nvSpPr>
        <p:spPr>
          <a:xfrm>
            <a:off x="566928" y="1207008"/>
            <a:ext cx="11064240" cy="329184"/>
          </a:xfrm>
          <a:prstGeom prst="rect">
            <a:avLst/>
          </a:prstGeom>
          <a:noFill/>
          <a:ln/>
        </p:spPr>
        <p:txBody>
          <a:bodyPr wrap="square" lIns="0" tIns="0" rIns="0" bIns="0" rtlCol="0" anchor="t"/>
          <a:lstStyle/>
          <a:p>
            <a:pPr indent="0" marL="0">
              <a:buNone/>
            </a:pPr>
            <a:r>
              <a:rPr lang="en-US" sz="1350" i="1" dirty="0">
                <a:solidFill>
                  <a:srgbClr val="BFE6FF"/>
                </a:solidFill>
                <a:latin typeface="Arial" pitchFamily="34" charset="0"/>
                <a:ea typeface="Arial" pitchFamily="34" charset="-122"/>
                <a:cs typeface="Arial" pitchFamily="34" charset="-120"/>
              </a:rPr>
              <a:t>We demoed poisoning live. The mechanism is identical for the rest.</a:t>
            </a:r>
            <a:endParaRPr lang="en-US" sz="1350" dirty="0"/>
          </a:p>
        </p:txBody>
      </p:sp>
      <p:sp>
        <p:nvSpPr>
          <p:cNvPr id="5" name="Shape 3"/>
          <p:cNvSpPr/>
          <p:nvPr/>
        </p:nvSpPr>
        <p:spPr>
          <a:xfrm>
            <a:off x="548640" y="1783080"/>
            <a:ext cx="2651760" cy="2606040"/>
          </a:xfrm>
          <a:prstGeom prst="roundRect">
            <a:avLst>
              <a:gd name="adj" fmla="val 3158"/>
            </a:avLst>
          </a:prstGeom>
          <a:solidFill>
            <a:srgbClr val="0E3A86">
              <a:alpha val="74000"/>
            </a:srgbClr>
          </a:solidFill>
          <a:ln w="12700">
            <a:solidFill>
              <a:srgbClr val="4FA8E8"/>
            </a:solidFill>
            <a:prstDash val="solid"/>
          </a:ln>
          <a:effectLst>
            <a:outerShdw sx="100000" sy="100000" kx="0" ky="0" algn="bl" rotWithShape="0" blurRad="127000" dist="50800" dir="16200000">
              <a:srgbClr val="4FC8FF">
                <a:alpha val="38000"/>
              </a:srgbClr>
            </a:outerShdw>
          </a:effectLst>
        </p:spPr>
      </p:sp>
      <p:sp>
        <p:nvSpPr>
          <p:cNvPr id="6" name="Shape 4"/>
          <p:cNvSpPr/>
          <p:nvPr/>
        </p:nvSpPr>
        <p:spPr>
          <a:xfrm>
            <a:off x="749808" y="1984248"/>
            <a:ext cx="548640" cy="548640"/>
          </a:xfrm>
          <a:prstGeom prst="roundRect">
            <a:avLst>
              <a:gd name="adj" fmla="val 23333"/>
            </a:avLst>
          </a:prstGeom>
          <a:solidFill>
            <a:srgbClr val="1A56AE">
              <a:alpha val="90000"/>
            </a:srgbClr>
          </a:solidFill>
          <a:ln w="19050">
            <a:solidFill>
              <a:srgbClr val="5FC8FF"/>
            </a:solidFill>
            <a:prstDash val="solid"/>
          </a:ln>
          <a:effectLst>
            <a:outerShdw sx="100000" sy="100000" kx="0" ky="0" algn="bl" rotWithShape="0" blurRad="203200" dist="50800" dir="16200000">
              <a:srgbClr val="4FC8FF">
                <a:alpha val="58000"/>
              </a:srgbClr>
            </a:outerShdw>
          </a:effectLst>
        </p:spPr>
      </p:sp>
      <p:pic>
        <p:nvPicPr>
          <p:cNvPr id="7" name="Image 0" descr="/Users/mark.maxwelldocker.com/sandboxes/WADMCPDemo/slides/deck-src/assets/ic_lock.png">    </p:cNvPr>
          <p:cNvPicPr>
            <a:picLocks noChangeAspect="1"/>
          </p:cNvPicPr>
          <p:nvPr/>
        </p:nvPicPr>
        <p:blipFill>
          <a:blip r:embed="rId2"/>
          <a:stretch>
            <a:fillRect/>
          </a:stretch>
        </p:blipFill>
        <p:spPr>
          <a:xfrm>
            <a:off x="897941" y="2132381"/>
            <a:ext cx="252374" cy="252374"/>
          </a:xfrm>
          <a:prstGeom prst="rect">
            <a:avLst/>
          </a:prstGeom>
        </p:spPr>
      </p:pic>
      <p:sp>
        <p:nvSpPr>
          <p:cNvPr id="8" name="Text 5"/>
          <p:cNvSpPr/>
          <p:nvPr/>
        </p:nvSpPr>
        <p:spPr>
          <a:xfrm>
            <a:off x="1417320" y="2029968"/>
            <a:ext cx="1645920" cy="45720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Tool poisoning</a:t>
            </a:r>
            <a:endParaRPr lang="en-US" sz="1400" dirty="0"/>
          </a:p>
        </p:txBody>
      </p:sp>
      <p:sp>
        <p:nvSpPr>
          <p:cNvPr id="9" name="Text 6"/>
          <p:cNvSpPr/>
          <p:nvPr/>
        </p:nvSpPr>
        <p:spPr>
          <a:xfrm>
            <a:off x="749808" y="2743200"/>
            <a:ext cx="2249424" cy="960120"/>
          </a:xfrm>
          <a:prstGeom prst="rect">
            <a:avLst/>
          </a:prstGeom>
          <a:noFill/>
          <a:ln/>
        </p:spPr>
        <p:txBody>
          <a:bodyPr wrap="square" lIns="0" tIns="0" rIns="0" bIns="0" rtlCol="0" anchor="t"/>
          <a:lstStyle/>
          <a:p>
            <a:pPr indent="0" marL="0">
              <a:buNone/>
            </a:pPr>
            <a:r>
              <a:rPr lang="en-US" sz="1150" dirty="0">
                <a:solidFill>
                  <a:srgbClr val="D6E6FB"/>
                </a:solidFill>
                <a:latin typeface="Arial" pitchFamily="34" charset="0"/>
                <a:ea typeface="Arial" pitchFamily="34" charset="-122"/>
                <a:cs typeface="Arial" pitchFamily="34" charset="-120"/>
              </a:rPr>
              <a:t>Hidden instructions in a tool description steer the agent into leaking secrets.</a:t>
            </a:r>
            <a:endParaRPr lang="en-US" sz="1150" dirty="0"/>
          </a:p>
        </p:txBody>
      </p:sp>
      <p:sp>
        <p:nvSpPr>
          <p:cNvPr id="10" name="Text 7"/>
          <p:cNvSpPr/>
          <p:nvPr/>
        </p:nvSpPr>
        <p:spPr>
          <a:xfrm>
            <a:off x="749808" y="3794760"/>
            <a:ext cx="2249424" cy="457200"/>
          </a:xfrm>
          <a:prstGeom prst="rect">
            <a:avLst/>
          </a:prstGeom>
          <a:noFill/>
          <a:ln/>
        </p:spPr>
        <p:txBody>
          <a:bodyPr wrap="square" lIns="0" tIns="0" rIns="0" bIns="0" rtlCol="0" anchor="t"/>
          <a:lstStyle/>
          <a:p>
            <a:pPr indent="0" marL="0">
              <a:buNone/>
            </a:pPr>
            <a:r>
              <a:rPr lang="en-US" sz="1050" i="1" dirty="0">
                <a:solidFill>
                  <a:srgbClr val="BFE6FF"/>
                </a:solidFill>
                <a:latin typeface="Arial" pitchFamily="34" charset="0"/>
                <a:ea typeface="Arial" pitchFamily="34" charset="-122"/>
                <a:cs typeface="Arial" pitchFamily="34" charset="-120"/>
              </a:rPr>
              <a:t>Shown: Beat 1 → denied in Beat 2</a:t>
            </a:r>
            <a:endParaRPr lang="en-US" sz="1050" dirty="0"/>
          </a:p>
        </p:txBody>
      </p:sp>
      <p:sp>
        <p:nvSpPr>
          <p:cNvPr id="11" name="Shape 8"/>
          <p:cNvSpPr/>
          <p:nvPr/>
        </p:nvSpPr>
        <p:spPr>
          <a:xfrm>
            <a:off x="3364992" y="1783080"/>
            <a:ext cx="2651760" cy="2606040"/>
          </a:xfrm>
          <a:prstGeom prst="roundRect">
            <a:avLst>
              <a:gd name="adj" fmla="val 3158"/>
            </a:avLst>
          </a:prstGeom>
          <a:solidFill>
            <a:srgbClr val="0E3A86">
              <a:alpha val="74000"/>
            </a:srgbClr>
          </a:solidFill>
          <a:ln w="12700">
            <a:solidFill>
              <a:srgbClr val="4FA8E8"/>
            </a:solidFill>
            <a:prstDash val="solid"/>
          </a:ln>
          <a:effectLst>
            <a:outerShdw sx="100000" sy="100000" kx="0" ky="0" algn="bl" rotWithShape="0" blurRad="127000" dist="50800" dir="16200000">
              <a:srgbClr val="4FC8FF">
                <a:alpha val="38000"/>
              </a:srgbClr>
            </a:outerShdw>
          </a:effectLst>
        </p:spPr>
      </p:sp>
      <p:sp>
        <p:nvSpPr>
          <p:cNvPr id="12" name="Shape 9"/>
          <p:cNvSpPr/>
          <p:nvPr/>
        </p:nvSpPr>
        <p:spPr>
          <a:xfrm>
            <a:off x="3566160" y="1984248"/>
            <a:ext cx="548640" cy="548640"/>
          </a:xfrm>
          <a:prstGeom prst="roundRect">
            <a:avLst>
              <a:gd name="adj" fmla="val 23333"/>
            </a:avLst>
          </a:prstGeom>
          <a:solidFill>
            <a:srgbClr val="1A56AE">
              <a:alpha val="90000"/>
            </a:srgbClr>
          </a:solidFill>
          <a:ln w="19050">
            <a:solidFill>
              <a:srgbClr val="5FC8FF"/>
            </a:solidFill>
            <a:prstDash val="solid"/>
          </a:ln>
          <a:effectLst>
            <a:outerShdw sx="100000" sy="100000" kx="0" ky="0" algn="bl" rotWithShape="0" blurRad="203200" dist="50800" dir="16200000">
              <a:srgbClr val="4FC8FF">
                <a:alpha val="58000"/>
              </a:srgbClr>
            </a:outerShdw>
          </a:effectLst>
        </p:spPr>
      </p:sp>
      <p:pic>
        <p:nvPicPr>
          <p:cNvPr id="13" name="Image 1" descr="/Users/mark.maxwelldocker.com/sandboxes/WADMCPDemo/slides/deck-src/assets/ic_sitemap.png">    </p:cNvPr>
          <p:cNvPicPr>
            <a:picLocks noChangeAspect="1"/>
          </p:cNvPicPr>
          <p:nvPr/>
        </p:nvPicPr>
        <p:blipFill>
          <a:blip r:embed="rId3"/>
          <a:stretch>
            <a:fillRect/>
          </a:stretch>
        </p:blipFill>
        <p:spPr>
          <a:xfrm>
            <a:off x="3714293" y="2132381"/>
            <a:ext cx="252374" cy="252374"/>
          </a:xfrm>
          <a:prstGeom prst="rect">
            <a:avLst/>
          </a:prstGeom>
        </p:spPr>
      </p:pic>
      <p:sp>
        <p:nvSpPr>
          <p:cNvPr id="14" name="Text 10"/>
          <p:cNvSpPr/>
          <p:nvPr/>
        </p:nvSpPr>
        <p:spPr>
          <a:xfrm>
            <a:off x="4233672" y="2029968"/>
            <a:ext cx="1645920" cy="45720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Tool shadowing</a:t>
            </a:r>
            <a:endParaRPr lang="en-US" sz="1400" dirty="0"/>
          </a:p>
        </p:txBody>
      </p:sp>
      <p:sp>
        <p:nvSpPr>
          <p:cNvPr id="15" name="Text 11"/>
          <p:cNvSpPr/>
          <p:nvPr/>
        </p:nvSpPr>
        <p:spPr>
          <a:xfrm>
            <a:off x="3566160" y="2743200"/>
            <a:ext cx="2249424" cy="960120"/>
          </a:xfrm>
          <a:prstGeom prst="rect">
            <a:avLst/>
          </a:prstGeom>
          <a:noFill/>
          <a:ln/>
        </p:spPr>
        <p:txBody>
          <a:bodyPr wrap="square" lIns="0" tIns="0" rIns="0" bIns="0" rtlCol="0" anchor="t"/>
          <a:lstStyle/>
          <a:p>
            <a:pPr indent="0" marL="0">
              <a:buNone/>
            </a:pPr>
            <a:r>
              <a:rPr lang="en-US" sz="1150" dirty="0">
                <a:solidFill>
                  <a:srgbClr val="D6E6FB"/>
                </a:solidFill>
                <a:latin typeface="Arial" pitchFamily="34" charset="0"/>
                <a:ea typeface="Arial" pitchFamily="34" charset="-122"/>
                <a:cs typeface="Arial" pitchFamily="34" charset="-120"/>
              </a:rPr>
              <a:t>A malicious server redefines a trusted tool name so calls hit the bad one.</a:t>
            </a:r>
            <a:endParaRPr lang="en-US" sz="1150" dirty="0"/>
          </a:p>
        </p:txBody>
      </p:sp>
      <p:sp>
        <p:nvSpPr>
          <p:cNvPr id="16" name="Text 12"/>
          <p:cNvSpPr/>
          <p:nvPr/>
        </p:nvSpPr>
        <p:spPr>
          <a:xfrm>
            <a:off x="3566160" y="3794760"/>
            <a:ext cx="2249424" cy="457200"/>
          </a:xfrm>
          <a:prstGeom prst="rect">
            <a:avLst/>
          </a:prstGeom>
          <a:noFill/>
          <a:ln/>
        </p:spPr>
        <p:txBody>
          <a:bodyPr wrap="square" lIns="0" tIns="0" rIns="0" bIns="0" rtlCol="0" anchor="t"/>
          <a:lstStyle/>
          <a:p>
            <a:pPr indent="0" marL="0">
              <a:buNone/>
            </a:pPr>
            <a:r>
              <a:rPr lang="en-US" sz="1050" i="1" dirty="0">
                <a:solidFill>
                  <a:srgbClr val="BFE6FF"/>
                </a:solidFill>
                <a:latin typeface="Arial" pitchFamily="34" charset="0"/>
                <a:ea typeface="Arial" pitchFamily="34" charset="-122"/>
                <a:cs typeface="Arial" pitchFamily="34" charset="-120"/>
              </a:rPr>
              <a:t>Both servers used npm_download</a:t>
            </a:r>
            <a:endParaRPr lang="en-US" sz="1050" dirty="0"/>
          </a:p>
        </p:txBody>
      </p:sp>
      <p:sp>
        <p:nvSpPr>
          <p:cNvPr id="17" name="Shape 13"/>
          <p:cNvSpPr/>
          <p:nvPr/>
        </p:nvSpPr>
        <p:spPr>
          <a:xfrm>
            <a:off x="6181344" y="1783080"/>
            <a:ext cx="2651760" cy="2606040"/>
          </a:xfrm>
          <a:prstGeom prst="roundRect">
            <a:avLst>
              <a:gd name="adj" fmla="val 3158"/>
            </a:avLst>
          </a:prstGeom>
          <a:solidFill>
            <a:srgbClr val="0E3A86">
              <a:alpha val="74000"/>
            </a:srgbClr>
          </a:solidFill>
          <a:ln w="12700">
            <a:solidFill>
              <a:srgbClr val="4FA8E8"/>
            </a:solidFill>
            <a:prstDash val="solid"/>
          </a:ln>
          <a:effectLst>
            <a:outerShdw sx="100000" sy="100000" kx="0" ky="0" algn="bl" rotWithShape="0" blurRad="127000" dist="50800" dir="16200000">
              <a:srgbClr val="4FC8FF">
                <a:alpha val="38000"/>
              </a:srgbClr>
            </a:outerShdw>
          </a:effectLst>
        </p:spPr>
      </p:sp>
      <p:sp>
        <p:nvSpPr>
          <p:cNvPr id="18" name="Shape 14"/>
          <p:cNvSpPr/>
          <p:nvPr/>
        </p:nvSpPr>
        <p:spPr>
          <a:xfrm>
            <a:off x="6382512" y="1984248"/>
            <a:ext cx="548640" cy="548640"/>
          </a:xfrm>
          <a:prstGeom prst="roundRect">
            <a:avLst>
              <a:gd name="adj" fmla="val 23333"/>
            </a:avLst>
          </a:prstGeom>
          <a:solidFill>
            <a:srgbClr val="1A56AE">
              <a:alpha val="90000"/>
            </a:srgbClr>
          </a:solidFill>
          <a:ln w="19050">
            <a:solidFill>
              <a:srgbClr val="5FC8FF"/>
            </a:solidFill>
            <a:prstDash val="solid"/>
          </a:ln>
          <a:effectLst>
            <a:outerShdw sx="100000" sy="100000" kx="0" ky="0" algn="bl" rotWithShape="0" blurRad="203200" dist="50800" dir="16200000">
              <a:srgbClr val="4FC8FF">
                <a:alpha val="58000"/>
              </a:srgbClr>
            </a:outerShdw>
          </a:effectLst>
        </p:spPr>
      </p:sp>
      <p:pic>
        <p:nvPicPr>
          <p:cNvPr id="19" name="Image 2" descr="/Users/mark.maxwelldocker.com/sandboxes/WADMCPDemo/slides/deck-src/assets/ic_cogs.png">    </p:cNvPr>
          <p:cNvPicPr>
            <a:picLocks noChangeAspect="1"/>
          </p:cNvPicPr>
          <p:nvPr/>
        </p:nvPicPr>
        <p:blipFill>
          <a:blip r:embed="rId4"/>
          <a:stretch>
            <a:fillRect/>
          </a:stretch>
        </p:blipFill>
        <p:spPr>
          <a:xfrm>
            <a:off x="6530645" y="2132381"/>
            <a:ext cx="252374" cy="252374"/>
          </a:xfrm>
          <a:prstGeom prst="rect">
            <a:avLst/>
          </a:prstGeom>
        </p:spPr>
      </p:pic>
      <p:sp>
        <p:nvSpPr>
          <p:cNvPr id="20" name="Text 15"/>
          <p:cNvSpPr/>
          <p:nvPr/>
        </p:nvSpPr>
        <p:spPr>
          <a:xfrm>
            <a:off x="7050024" y="2029968"/>
            <a:ext cx="1645920" cy="45720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Rug pulls</a:t>
            </a:r>
            <a:endParaRPr lang="en-US" sz="1400" dirty="0"/>
          </a:p>
        </p:txBody>
      </p:sp>
      <p:sp>
        <p:nvSpPr>
          <p:cNvPr id="21" name="Text 16"/>
          <p:cNvSpPr/>
          <p:nvPr/>
        </p:nvSpPr>
        <p:spPr>
          <a:xfrm>
            <a:off x="6382512" y="2743200"/>
            <a:ext cx="2249424" cy="960120"/>
          </a:xfrm>
          <a:prstGeom prst="rect">
            <a:avLst/>
          </a:prstGeom>
          <a:noFill/>
          <a:ln/>
        </p:spPr>
        <p:txBody>
          <a:bodyPr wrap="square" lIns="0" tIns="0" rIns="0" bIns="0" rtlCol="0" anchor="t"/>
          <a:lstStyle/>
          <a:p>
            <a:pPr indent="0" marL="0">
              <a:buNone/>
            </a:pPr>
            <a:r>
              <a:rPr lang="en-US" sz="1150" dirty="0">
                <a:solidFill>
                  <a:srgbClr val="D6E6FB"/>
                </a:solidFill>
                <a:latin typeface="Arial" pitchFamily="34" charset="0"/>
                <a:ea typeface="Arial" pitchFamily="34" charset="-122"/>
                <a:cs typeface="Arial" pitchFamily="34" charset="-120"/>
              </a:rPr>
              <a:t>A server behaves during review, then swaps behavior after it is trusted.</a:t>
            </a:r>
            <a:endParaRPr lang="en-US" sz="1150" dirty="0"/>
          </a:p>
        </p:txBody>
      </p:sp>
      <p:sp>
        <p:nvSpPr>
          <p:cNvPr id="22" name="Text 17"/>
          <p:cNvSpPr/>
          <p:nvPr/>
        </p:nvSpPr>
        <p:spPr>
          <a:xfrm>
            <a:off x="6382512" y="3794760"/>
            <a:ext cx="2249424" cy="457200"/>
          </a:xfrm>
          <a:prstGeom prst="rect">
            <a:avLst/>
          </a:prstGeom>
          <a:noFill/>
          <a:ln/>
        </p:spPr>
        <p:txBody>
          <a:bodyPr wrap="square" lIns="0" tIns="0" rIns="0" bIns="0" rtlCol="0" anchor="t"/>
          <a:lstStyle/>
          <a:p>
            <a:pPr indent="0" marL="0">
              <a:buNone/>
            </a:pPr>
            <a:r>
              <a:rPr lang="en-US" sz="1050" i="1" dirty="0">
                <a:solidFill>
                  <a:srgbClr val="BFE6FF"/>
                </a:solidFill>
                <a:latin typeface="Arial" pitchFamily="34" charset="0"/>
                <a:ea typeface="Arial" pitchFamily="34" charset="-122"/>
                <a:cs typeface="Arial" pitchFamily="34" charset="-120"/>
              </a:rPr>
              <a:t>Endpoint swap denied in Beat 2b</a:t>
            </a:r>
            <a:endParaRPr lang="en-US" sz="1050" dirty="0"/>
          </a:p>
        </p:txBody>
      </p:sp>
      <p:sp>
        <p:nvSpPr>
          <p:cNvPr id="23" name="Shape 18"/>
          <p:cNvSpPr/>
          <p:nvPr/>
        </p:nvSpPr>
        <p:spPr>
          <a:xfrm>
            <a:off x="8997696" y="1783080"/>
            <a:ext cx="2651760" cy="2606040"/>
          </a:xfrm>
          <a:prstGeom prst="roundRect">
            <a:avLst>
              <a:gd name="adj" fmla="val 3158"/>
            </a:avLst>
          </a:prstGeom>
          <a:solidFill>
            <a:srgbClr val="0E3A86">
              <a:alpha val="74000"/>
            </a:srgbClr>
          </a:solidFill>
          <a:ln w="12700">
            <a:solidFill>
              <a:srgbClr val="4FA8E8"/>
            </a:solidFill>
            <a:prstDash val="solid"/>
          </a:ln>
          <a:effectLst>
            <a:outerShdw sx="100000" sy="100000" kx="0" ky="0" algn="bl" rotWithShape="0" blurRad="127000" dist="50800" dir="16200000">
              <a:srgbClr val="4FC8FF">
                <a:alpha val="38000"/>
              </a:srgbClr>
            </a:outerShdw>
          </a:effectLst>
        </p:spPr>
      </p:sp>
      <p:sp>
        <p:nvSpPr>
          <p:cNvPr id="24" name="Shape 19"/>
          <p:cNvSpPr/>
          <p:nvPr/>
        </p:nvSpPr>
        <p:spPr>
          <a:xfrm>
            <a:off x="9198864" y="1984248"/>
            <a:ext cx="548640" cy="548640"/>
          </a:xfrm>
          <a:prstGeom prst="roundRect">
            <a:avLst>
              <a:gd name="adj" fmla="val 23333"/>
            </a:avLst>
          </a:prstGeom>
          <a:solidFill>
            <a:srgbClr val="1A56AE">
              <a:alpha val="90000"/>
            </a:srgbClr>
          </a:solidFill>
          <a:ln w="19050">
            <a:solidFill>
              <a:srgbClr val="5FC8FF"/>
            </a:solidFill>
            <a:prstDash val="solid"/>
          </a:ln>
          <a:effectLst>
            <a:outerShdw sx="100000" sy="100000" kx="0" ky="0" algn="bl" rotWithShape="0" blurRad="203200" dist="50800" dir="16200000">
              <a:srgbClr val="4FC8FF">
                <a:alpha val="58000"/>
              </a:srgbClr>
            </a:outerShdw>
          </a:effectLst>
        </p:spPr>
      </p:sp>
      <p:pic>
        <p:nvPicPr>
          <p:cNvPr id="25" name="Image 3" descr="/Users/mark.maxwelldocker.com/sandboxes/WADMCPDemo/slides/deck-src/assets/ic_users.png">    </p:cNvPr>
          <p:cNvPicPr>
            <a:picLocks noChangeAspect="1"/>
          </p:cNvPicPr>
          <p:nvPr/>
        </p:nvPicPr>
        <p:blipFill>
          <a:blip r:embed="rId5"/>
          <a:stretch>
            <a:fillRect/>
          </a:stretch>
        </p:blipFill>
        <p:spPr>
          <a:xfrm>
            <a:off x="9346997" y="2132381"/>
            <a:ext cx="252374" cy="252374"/>
          </a:xfrm>
          <a:prstGeom prst="rect">
            <a:avLst/>
          </a:prstGeom>
        </p:spPr>
      </p:pic>
      <p:sp>
        <p:nvSpPr>
          <p:cNvPr id="26" name="Text 20"/>
          <p:cNvSpPr/>
          <p:nvPr/>
        </p:nvSpPr>
        <p:spPr>
          <a:xfrm>
            <a:off x="9866376" y="2029968"/>
            <a:ext cx="1645920" cy="45720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Over-broad scopes</a:t>
            </a:r>
            <a:endParaRPr lang="en-US" sz="1400" dirty="0"/>
          </a:p>
        </p:txBody>
      </p:sp>
      <p:sp>
        <p:nvSpPr>
          <p:cNvPr id="27" name="Text 21"/>
          <p:cNvSpPr/>
          <p:nvPr/>
        </p:nvSpPr>
        <p:spPr>
          <a:xfrm>
            <a:off x="9198864" y="2743200"/>
            <a:ext cx="2249424" cy="960120"/>
          </a:xfrm>
          <a:prstGeom prst="rect">
            <a:avLst/>
          </a:prstGeom>
          <a:noFill/>
          <a:ln/>
        </p:spPr>
        <p:txBody>
          <a:bodyPr wrap="square" lIns="0" tIns="0" rIns="0" bIns="0" rtlCol="0" anchor="t"/>
          <a:lstStyle/>
          <a:p>
            <a:pPr indent="0" marL="0">
              <a:buNone/>
            </a:pPr>
            <a:r>
              <a:rPr lang="en-US" sz="1150" dirty="0">
                <a:solidFill>
                  <a:srgbClr val="D6E6FB"/>
                </a:solidFill>
                <a:latin typeface="Arial" pitchFamily="34" charset="0"/>
                <a:ea typeface="Arial" pitchFamily="34" charset="-122"/>
                <a:cs typeface="Arial" pitchFamily="34" charset="-120"/>
              </a:rPr>
              <a:t>The agent hands a server credentials far wider than the task needs.</a:t>
            </a:r>
            <a:endParaRPr lang="en-US" sz="1150" dirty="0"/>
          </a:p>
        </p:txBody>
      </p:sp>
      <p:sp>
        <p:nvSpPr>
          <p:cNvPr id="28" name="Text 22"/>
          <p:cNvSpPr/>
          <p:nvPr/>
        </p:nvSpPr>
        <p:spPr>
          <a:xfrm>
            <a:off x="9198864" y="3794760"/>
            <a:ext cx="2249424" cy="457200"/>
          </a:xfrm>
          <a:prstGeom prst="rect">
            <a:avLst/>
          </a:prstGeom>
          <a:noFill/>
          <a:ln/>
        </p:spPr>
        <p:txBody>
          <a:bodyPr wrap="square" lIns="0" tIns="0" rIns="0" bIns="0" rtlCol="0" anchor="t"/>
          <a:lstStyle/>
          <a:p>
            <a:pPr indent="0" marL="0">
              <a:buNone/>
            </a:pPr>
            <a:r>
              <a:rPr lang="en-US" sz="1050" i="1" dirty="0">
                <a:solidFill>
                  <a:srgbClr val="BFE6FF"/>
                </a:solidFill>
                <a:latin typeface="Arial" pitchFamily="34" charset="0"/>
                <a:ea typeface="Arial" pitchFamily="34" charset="-122"/>
                <a:cs typeface="Arial" pitchFamily="34" charset="-120"/>
              </a:rPr>
              <a:t>Agent cannot add servers: Beat 3</a:t>
            </a:r>
            <a:endParaRPr lang="en-US" sz="1050" dirty="0"/>
          </a:p>
        </p:txBody>
      </p:sp>
      <p:sp>
        <p:nvSpPr>
          <p:cNvPr id="29" name="Shape 23"/>
          <p:cNvSpPr/>
          <p:nvPr/>
        </p:nvSpPr>
        <p:spPr>
          <a:xfrm>
            <a:off x="548640" y="4754880"/>
            <a:ext cx="11091672" cy="822960"/>
          </a:xfrm>
          <a:prstGeom prst="roundRect">
            <a:avLst>
              <a:gd name="adj" fmla="val 11111"/>
            </a:avLst>
          </a:prstGeom>
          <a:solidFill>
            <a:srgbClr val="1E63C8">
              <a:alpha val="88000"/>
            </a:srgbClr>
          </a:solidFill>
          <a:ln w="15875">
            <a:solidFill>
              <a:srgbClr val="5FC8FF"/>
            </a:solidFill>
            <a:prstDash val="solid"/>
          </a:ln>
          <a:effectLst>
            <a:outerShdw sx="100000" sy="100000" kx="0" ky="0" algn="bl" rotWithShape="0" blurRad="127000" dist="50800" dir="16200000">
              <a:srgbClr val="4FC8FF">
                <a:alpha val="38000"/>
              </a:srgbClr>
            </a:outerShdw>
          </a:effectLst>
        </p:spPr>
      </p:sp>
      <p:sp>
        <p:nvSpPr>
          <p:cNvPr id="30" name="Text 24"/>
          <p:cNvSpPr/>
          <p:nvPr/>
        </p:nvSpPr>
        <p:spPr>
          <a:xfrm>
            <a:off x="777240" y="4754880"/>
            <a:ext cx="10634472" cy="822960"/>
          </a:xfrm>
          <a:prstGeom prst="rect">
            <a:avLst/>
          </a:prstGeom>
          <a:noFill/>
          <a:ln/>
        </p:spPr>
        <p:txBody>
          <a:bodyPr wrap="square" lIns="0" tIns="0" rIns="0" bIns="0" rtlCol="0" anchor="ctr"/>
          <a:lstStyle/>
          <a:p>
            <a:pPr indent="0" marL="0">
              <a:buNone/>
            </a:pPr>
            <a:r>
              <a:rPr lang="en-US" sz="1350" b="1" dirty="0">
                <a:solidFill>
                  <a:srgbClr val="5FC8FF"/>
                </a:solidFill>
                <a:latin typeface="Arial" pitchFamily="34" charset="0"/>
                <a:ea typeface="Arial" pitchFamily="34" charset="-122"/>
                <a:cs typeface="Arial" pitchFamily="34" charset="-120"/>
              </a:rPr>
              <a:t>One chokepoint  </a:t>
            </a:r>
            <a:pPr indent="0" marL="0">
              <a:buNone/>
            </a:pPr>
            <a:r>
              <a:rPr lang="en-US" sz="1350" b="1" dirty="0">
                <a:solidFill>
                  <a:srgbClr val="FFFFFF"/>
                </a:solidFill>
                <a:latin typeface="Arial" pitchFamily="34" charset="0"/>
                <a:ea typeface="Arial" pitchFamily="34" charset="-122"/>
                <a:cs typeface="Arial" pitchFamily="34" charset="-120"/>
              </a:rPr>
              <a:t>Authenticated, authorized, logged. </a:t>
            </a:r>
            <a:pPr indent="0" marL="0">
              <a:buNone/>
            </a:pPr>
            <a:r>
              <a:rPr lang="en-US" sz="1350" dirty="0">
                <a:solidFill>
                  <a:srgbClr val="FFFFFF"/>
                </a:solidFill>
                <a:latin typeface="Arial" pitchFamily="34" charset="0"/>
                <a:ea typeface="Arial" pitchFamily="34" charset="-122"/>
                <a:cs typeface="Arial" pitchFamily="34" charset="-120"/>
              </a:rPr>
              <a:t>Not AI-detects-the-poison magic: a curated, default-deny catalog with a full audit trail.</a:t>
            </a:r>
            <a:endParaRPr lang="en-US" sz="1350" dirty="0"/>
          </a:p>
        </p:txBody>
      </p:sp>
      <p:pic>
        <p:nvPicPr>
          <p:cNvPr id="31" name="Image 4" descr="/Users/mark.maxwelldocker.com/sandboxes/WADMCPDemo/slides/deck-src/assets/docker_logo.png">    </p:cNvPr>
          <p:cNvPicPr>
            <a:picLocks noChangeAspect="1"/>
          </p:cNvPicPr>
          <p:nvPr/>
        </p:nvPicPr>
        <p:blipFill>
          <a:blip r:embed="rId6"/>
          <a:stretch>
            <a:fillRect/>
          </a:stretch>
        </p:blipFill>
        <p:spPr>
          <a:xfrm>
            <a:off x="10378440" y="6382512"/>
            <a:ext cx="1371600" cy="31089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641848" y="1280160"/>
            <a:ext cx="914400" cy="914400"/>
          </a:xfrm>
          <a:prstGeom prst="roundRect">
            <a:avLst>
              <a:gd name="adj" fmla="val 14000"/>
            </a:avLst>
          </a:prstGeom>
          <a:solidFill>
            <a:srgbClr val="1A56AE">
              <a:alpha val="90000"/>
            </a:srgbClr>
          </a:solidFill>
          <a:ln w="19050">
            <a:solidFill>
              <a:srgbClr val="5FC8FF"/>
            </a:solidFill>
            <a:prstDash val="solid"/>
          </a:ln>
          <a:effectLst>
            <a:outerShdw sx="100000" sy="100000" kx="0" ky="0" algn="bl" rotWithShape="0" blurRad="203200" dist="50800" dir="16200000">
              <a:srgbClr val="4FC8FF">
                <a:alpha val="58000"/>
              </a:srgbClr>
            </a:outerShdw>
          </a:effectLst>
        </p:spPr>
      </p:sp>
      <p:pic>
        <p:nvPicPr>
          <p:cNvPr id="3" name="Image 0" descr="/Users/mark.maxwelldocker.com/sandboxes/WADMCPDemo/slides/deck-src/assets/ic_check.png">    </p:cNvPr>
          <p:cNvPicPr>
            <a:picLocks noChangeAspect="1"/>
          </p:cNvPicPr>
          <p:nvPr/>
        </p:nvPicPr>
        <p:blipFill>
          <a:blip r:embed="rId2"/>
          <a:stretch>
            <a:fillRect/>
          </a:stretch>
        </p:blipFill>
        <p:spPr>
          <a:xfrm>
            <a:off x="5888736" y="1527048"/>
            <a:ext cx="420624" cy="420624"/>
          </a:xfrm>
          <a:prstGeom prst="rect">
            <a:avLst/>
          </a:prstGeom>
        </p:spPr>
      </p:pic>
      <p:sp>
        <p:nvSpPr>
          <p:cNvPr id="4" name="Text 1"/>
          <p:cNvSpPr/>
          <p:nvPr/>
        </p:nvSpPr>
        <p:spPr>
          <a:xfrm>
            <a:off x="640080" y="2560320"/>
            <a:ext cx="10881360" cy="822960"/>
          </a:xfrm>
          <a:prstGeom prst="rect">
            <a:avLst/>
          </a:prstGeom>
          <a:noFill/>
          <a:ln/>
        </p:spPr>
        <p:txBody>
          <a:bodyPr wrap="square" lIns="0" tIns="0" rIns="0" bIns="0" rtlCol="0" anchor="t"/>
          <a:lstStyle/>
          <a:p>
            <a:pPr algn="ctr" indent="0" marL="0">
              <a:buNone/>
            </a:pPr>
            <a:r>
              <a:rPr lang="en-US" sz="3400" b="1" dirty="0">
                <a:solidFill>
                  <a:srgbClr val="FFFFFF"/>
                </a:solidFill>
                <a:latin typeface="Arial" pitchFamily="34" charset="0"/>
                <a:ea typeface="Arial" pitchFamily="34" charset="-122"/>
                <a:cs typeface="Arial" pitchFamily="34" charset="-120"/>
              </a:rPr>
              <a:t>The only thing that changed was policy.</a:t>
            </a:r>
            <a:endParaRPr lang="en-US" sz="3400" dirty="0"/>
          </a:p>
        </p:txBody>
      </p:sp>
      <p:sp>
        <p:nvSpPr>
          <p:cNvPr id="5" name="Text 2"/>
          <p:cNvSpPr/>
          <p:nvPr/>
        </p:nvSpPr>
        <p:spPr>
          <a:xfrm>
            <a:off x="1280160" y="3566160"/>
            <a:ext cx="9601200" cy="1005840"/>
          </a:xfrm>
          <a:prstGeom prst="rect">
            <a:avLst/>
          </a:prstGeom>
          <a:noFill/>
          <a:ln/>
        </p:spPr>
        <p:txBody>
          <a:bodyPr wrap="square" lIns="0" tIns="0" rIns="0" bIns="0" rtlCol="0" anchor="t"/>
          <a:lstStyle/>
          <a:p>
            <a:pPr algn="ctr" indent="0" marL="0">
              <a:buNone/>
            </a:pPr>
            <a:r>
              <a:rPr lang="en-US" sz="1600" dirty="0">
                <a:solidFill>
                  <a:srgbClr val="BFE6FF"/>
                </a:solidFill>
                <a:latin typeface="Arial" pitchFamily="34" charset="0"/>
                <a:ea typeface="Arial" pitchFamily="34" charset="-122"/>
                <a:cs typeface="Arial" pitchFamily="34" charset="-120"/>
              </a:rPr>
              <a:t>Ungoverned, the poison worked. Governed, the unvetted server was denied on identity.</a:t>
            </a:r>
            <a:endParaRPr lang="en-US" sz="1600" dirty="0"/>
          </a:p>
          <a:p>
            <a:pPr algn="ctr" indent="0" marL="0">
              <a:buNone/>
            </a:pPr>
            <a:r>
              <a:rPr lang="en-US" sz="1600" dirty="0">
                <a:solidFill>
                  <a:srgbClr val="BFE6FF"/>
                </a:solidFill>
                <a:latin typeface="Arial" pitchFamily="34" charset="0"/>
                <a:ea typeface="Arial" pitchFamily="34" charset="-122"/>
                <a:cs typeface="Arial" pitchFamily="34" charset="-120"/>
              </a:rPr>
              <a:t>The approved server pulled the package, and every decision is on the record.</a:t>
            </a:r>
            <a:endParaRPr lang="en-US" sz="1600" dirty="0"/>
          </a:p>
        </p:txBody>
      </p:sp>
      <p:pic>
        <p:nvPicPr>
          <p:cNvPr id="6" name="Image 1" descr="/Users/mark.maxwelldocker.com/sandboxes/WADMCPDemo/slides/deck-src/assets/docker_logo.png">    </p:cNvPr>
          <p:cNvPicPr>
            <a:picLocks noChangeAspect="1"/>
          </p:cNvPicPr>
          <p:nvPr/>
        </p:nvPicPr>
        <p:blipFill>
          <a:blip r:embed="rId3"/>
          <a:stretch>
            <a:fillRect/>
          </a:stretch>
        </p:blipFill>
        <p:spPr>
          <a:xfrm>
            <a:off x="4998568" y="4937760"/>
            <a:ext cx="2194560" cy="49743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Docker MCP Governance — Demo (screenshot edition)</dc:title>
  <dc:subject>PptxGenJS Presentation</dc:subject>
  <dc:creator>Docker</dc:creator>
  <cp:lastModifiedBy>Docker</cp:lastModifiedBy>
  <cp:revision>1</cp:revision>
  <dcterms:created xsi:type="dcterms:W3CDTF">2026-09-14T21:37:24Z</dcterms:created>
  <dcterms:modified xsi:type="dcterms:W3CDTF">2026-09-14T21:37:24Z</dcterms:modified>
</cp:coreProperties>
</file>